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3"/>
  </p:notesMasterIdLst>
  <p:sldIdLst>
    <p:sldId id="348" r:id="rId3"/>
    <p:sldId id="355" r:id="rId4"/>
    <p:sldId id="283" r:id="rId5"/>
    <p:sldId id="353" r:id="rId6"/>
    <p:sldId id="354" r:id="rId7"/>
    <p:sldId id="286" r:id="rId8"/>
    <p:sldId id="337" r:id="rId9"/>
    <p:sldId id="305" r:id="rId10"/>
    <p:sldId id="349" r:id="rId11"/>
    <p:sldId id="306" r:id="rId12"/>
    <p:sldId id="309" r:id="rId13"/>
    <p:sldId id="287" r:id="rId14"/>
    <p:sldId id="359" r:id="rId15"/>
    <p:sldId id="360" r:id="rId16"/>
    <p:sldId id="344" r:id="rId17"/>
    <p:sldId id="361" r:id="rId18"/>
    <p:sldId id="346" r:id="rId19"/>
    <p:sldId id="328" r:id="rId20"/>
    <p:sldId id="329" r:id="rId21"/>
    <p:sldId id="357" r:id="rId22"/>
    <p:sldId id="358" r:id="rId23"/>
    <p:sldId id="356" r:id="rId24"/>
    <p:sldId id="261" r:id="rId25"/>
    <p:sldId id="352" r:id="rId26"/>
    <p:sldId id="341" r:id="rId27"/>
    <p:sldId id="262" r:id="rId28"/>
    <p:sldId id="270" r:id="rId29"/>
    <p:sldId id="317" r:id="rId30"/>
    <p:sldId id="312" r:id="rId31"/>
    <p:sldId id="321" r:id="rId32"/>
    <p:sldId id="313" r:id="rId33"/>
    <p:sldId id="264" r:id="rId34"/>
    <p:sldId id="323" r:id="rId35"/>
    <p:sldId id="345" r:id="rId36"/>
    <p:sldId id="343" r:id="rId37"/>
    <p:sldId id="324" r:id="rId38"/>
    <p:sldId id="325" r:id="rId39"/>
    <p:sldId id="327" r:id="rId40"/>
    <p:sldId id="331" r:id="rId41"/>
    <p:sldId id="332" r:id="rId4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4" d="100"/>
        <a:sy n="6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747F4-A0BD-4879-8574-EB289384D81B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22B99-7FC9-4FFC-B4DB-205DA7580C3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3218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22B99-7FC9-4FFC-B4DB-205DA7580C32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4043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22B99-7FC9-4FFC-B4DB-205DA7580C32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72775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22B99-7FC9-4FFC-B4DB-205DA7580C32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32114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22B99-7FC9-4FFC-B4DB-205DA7580C32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54343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22B99-7FC9-4FFC-B4DB-205DA7580C32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7617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22B99-7FC9-4FFC-B4DB-205DA7580C32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2180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22B99-7FC9-4FFC-B4DB-205DA7580C32}" type="slidenum">
              <a:rPr lang="en-NL" smtClean="0"/>
              <a:t>40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200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16E2E-EAA7-EE2B-ED3C-66BA7805D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80D2F-A2AB-4250-66EE-A7DD90100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E6BDD-38E8-B47D-1A10-334FA853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44CDC-B6C2-F30F-8FD3-C0830CA6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73221-5F4C-FEAF-7F09-04A15738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3795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5D82-01F1-64C9-3BEF-1F700A55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B5CE5-0389-8679-82B5-D2DDFC5EE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9341F-8B69-D7FD-3651-1170FCA7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2F66F-2A0C-04BF-B91E-5F9DE49C0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51E91-10FC-21A3-C5D7-D00F84FF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28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5D34B-6C18-A18F-0646-57F49B73B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753A5-54AD-8822-42C9-5D804E180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19A44-9C04-2D06-9515-30D9BEA1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B9883-2A8C-14CB-5B9A-50F6F47B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E4E2A-D3DE-0EF8-E6B7-B4E55E21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011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5F9C-697D-0789-6154-A1B9EF04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AE059-1D95-BADE-CA2F-61C8899CC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8E249-BF19-8C6E-6935-5CC161DAA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26EC0-A531-8BBE-444B-8B65F3F5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385A1-BA69-FC58-7A79-DBB97944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A39CD-15C9-6DBA-D5D4-F703B150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1267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32100-30BB-D72A-160E-A3F6F411D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DDA8B-8E6C-0E4F-4496-C15551997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8B66C-D032-8853-0E40-7060A5242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76F52-F9E2-F1C3-64D2-F0969A3BA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998AE-D83F-C91A-CCC0-6DE0D07AD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6A9BF-96C1-DF08-58B3-56E799EA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0D2B48-1997-9708-F4E9-76B2262B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7D94BF-A609-33EC-2D81-39FD6B9A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0003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042E-0D55-C9D9-CD73-A4C6F2B2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DDDE1-E280-D298-A6C6-03D4639C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407BDE-066C-E16A-98CF-A87589EF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54AFD-03C2-DB50-F868-FA13DA30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9696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59A70-8514-D15A-A726-5C6EA814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69626-93E8-4E4F-4CC7-17C6DE60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5879C-C109-0783-6A3C-818C2CAB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2913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F799-B129-AFA8-40F8-CB41D362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67C2E-CE23-7ED9-DA5E-4DCE41F96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A8D86-478C-DB94-BFA2-C8551B9B6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20268-1936-E575-526F-C0588116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C727D-5BE9-EB65-B007-38C2D03C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23EE2-E6D3-D5D6-20E6-D8B297C8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3928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FE23F-375F-861B-70D7-25E1147B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D9AF9-B1FE-A7F1-D919-2AB7B5868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FFAA6-797C-806D-44C2-992897718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51FBE-4981-F1C1-5F3F-C2188348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6C0B8-0BA0-586E-2A89-9F3D88B3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417BC-5679-6A63-2F8E-CBFB97B55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1335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95D0-DB67-DB69-E7CD-8440E71E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93FC0-70C9-360A-D8CF-BB91B94DA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54BC3-07DA-8112-EB6B-FFD3DBDB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76263-563B-3570-0584-C20629F9F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E8779-AE1B-69C9-AC20-BD18DB39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6394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4BED47-15D0-5D8D-8408-E72D54170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34477-13C1-181D-C0D4-DD58F1242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9EB1-B781-F929-B861-91CB00FA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CCABA-8C92-C8B3-0ED9-E75B2FA2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C76F9-C4C6-E8B9-7643-C7E851C3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6551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87719B-80E2-FF07-7BA1-B56CC3CACE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1933" y="1210285"/>
            <a:ext cx="7002952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Presentation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8E098CA-6DF2-4F5C-6E08-DA2A60221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428" y="3461362"/>
            <a:ext cx="737021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0A0E149-DD4D-4478-015C-A030CCD6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6972" y="622778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E39DF448-9963-224E-8D7D-A5BE1B2C6FFC}" type="datetime1">
              <a:rPr lang="nl-NL" smtClean="0"/>
              <a:t>27-11-2024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955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87719B-80E2-FF07-7BA1-B56CC3CACE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1933" y="1210285"/>
            <a:ext cx="7197824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Eind slide? </a:t>
            </a:r>
          </a:p>
        </p:txBody>
      </p:sp>
    </p:spTree>
    <p:extLst>
      <p:ext uri="{BB962C8B-B14F-4D97-AF65-F5344CB8AC3E}">
        <p14:creationId xmlns:p14="http://schemas.microsoft.com/office/powerpoint/2010/main" val="100919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3DD7E2-59DB-5FCE-7CFD-2078AAA8E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9C90C-D6B0-E02A-3DDB-B44173E69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C281A-C53C-6599-916C-F91DCD216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2C0A2-8AE8-4547-BE38-80004F531A67}" type="datetimeFigureOut">
              <a:rPr lang="en-NL" smtClean="0"/>
              <a:t>11/27/2024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8E4DB-AA3E-8D3F-8119-CD0F0DBC9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6F2F6-656E-C5B9-510E-6CB6C286D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CDEEA-C20F-425D-A016-12CCD82B23E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3105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C90E1AAB-62DE-81EA-58F5-19235B74621B}"/>
              </a:ext>
            </a:extLst>
          </p:cNvPr>
          <p:cNvSpPr/>
          <p:nvPr userDrawn="1"/>
        </p:nvSpPr>
        <p:spPr>
          <a:xfrm>
            <a:off x="13585" y="-6627"/>
            <a:ext cx="8140700" cy="6858000"/>
          </a:xfrm>
          <a:prstGeom prst="rect">
            <a:avLst/>
          </a:prstGeom>
          <a:solidFill>
            <a:srgbClr val="213A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40B3D6F-A0BD-55BA-6681-2456C784BA1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611577" y="-1303552"/>
            <a:ext cx="9601200" cy="10143385"/>
          </a:xfrm>
          <a:prstGeom prst="rect">
            <a:avLst/>
          </a:prstGeom>
        </p:spPr>
      </p:pic>
      <p:pic>
        <p:nvPicPr>
          <p:cNvPr id="10" name="Afbeelding 9" descr="Afbeelding met tekst, Lettertype, Graphics, grafische vormgeving&#10;&#10;Automatisch gegenereerde beschrijving">
            <a:extLst>
              <a:ext uri="{FF2B5EF4-FFF2-40B4-BE49-F238E27FC236}">
                <a16:creationId xmlns:a16="http://schemas.microsoft.com/office/drawing/2014/main" id="{DC45CC2E-EE51-82A3-CAAE-82D0D953E6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647" y="3854173"/>
            <a:ext cx="2113613" cy="266700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9C52D0B4-CB1A-A892-EB68-F4520F42FCC8}"/>
              </a:ext>
            </a:extLst>
          </p:cNvPr>
          <p:cNvSpPr/>
          <p:nvPr userDrawn="1"/>
        </p:nvSpPr>
        <p:spPr>
          <a:xfrm>
            <a:off x="8142523" y="-6627"/>
            <a:ext cx="4039538" cy="6858000"/>
          </a:xfrm>
          <a:prstGeom prst="rect">
            <a:avLst/>
          </a:prstGeom>
          <a:solidFill>
            <a:srgbClr val="F3F1E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464D5486-1012-F06F-8010-FED9507A831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83998" y="2546073"/>
            <a:ext cx="2113613" cy="18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eussen.nl/orchestra/getstarted_phreeqc1.zip" TargetMode="External"/><Relationship Id="rId2" Type="http://schemas.openxmlformats.org/officeDocument/2006/relationships/hyperlink" Target="http://www.meeussen.nl/orchestra/getstarted_phreeqc1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eussen.nl/orchestra/getstarted_phreeqc11.zip" TargetMode="External"/><Relationship Id="rId2" Type="http://schemas.openxmlformats.org/officeDocument/2006/relationships/hyperlink" Target="http://www.meeussen.nl/orchestra/getstarted_phreeqc11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meeussen@nrg.eu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01EE3D-65F8-9043-4680-D561166E1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187" y="481080"/>
            <a:ext cx="7002952" cy="2306637"/>
          </a:xfrm>
        </p:spPr>
        <p:txBody>
          <a:bodyPr/>
          <a:lstStyle/>
          <a:p>
            <a:r>
              <a:rPr lang="en-US" sz="4000" dirty="0"/>
              <a:t>Introduction chemical modelling with </a:t>
            </a:r>
            <a:br>
              <a:rPr lang="en-US" sz="4000" dirty="0"/>
            </a:br>
            <a:r>
              <a:rPr lang="en-US" sz="4000" b="1" dirty="0"/>
              <a:t>ORCHESTRA, Part III</a:t>
            </a:r>
            <a:br>
              <a:rPr lang="en-US" sz="4000" b="1" dirty="0"/>
            </a:br>
            <a:r>
              <a:rPr lang="en-US" sz="1800" b="1" dirty="0"/>
              <a:t>27 November 2024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395AAFB-B3B9-93EF-E469-9CD60CAEE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Hans Meeussen</a:t>
            </a:r>
            <a:endParaRPr lang="nl-NL" sz="2000" b="1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A4F8332-4181-134F-1A30-0A47B456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9DF448-9963-224E-8D7D-A5BE1B2C6FFC}" type="datetime1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27-11-2024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42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97A0-8741-FDBA-39A9-B4F06D01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105" y="157837"/>
            <a:ext cx="12571436" cy="1802818"/>
          </a:xfrm>
        </p:spPr>
        <p:txBody>
          <a:bodyPr>
            <a:normAutofit/>
          </a:bodyPr>
          <a:lstStyle/>
          <a:p>
            <a:r>
              <a:rPr lang="en-US" sz="3200" b="1" dirty="0"/>
              <a:t>Introduction chemical modelling with ORCHESTRA, Part III 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1600" b="1" dirty="0"/>
              <a:t>Hans Meeussen NRG/TU Delft, 27/11/2024</a:t>
            </a:r>
            <a:endParaRPr lang="en-NL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40AB8-C665-FB75-8910-11171A3F2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91" y="1734627"/>
            <a:ext cx="11566698" cy="471896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800" b="1" dirty="0"/>
              <a:t>On the menu today:</a:t>
            </a:r>
          </a:p>
          <a:p>
            <a:pPr marL="457200" lvl="1" indent="0">
              <a:buNone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Very short general intro ORCHESTRA </a:t>
            </a:r>
          </a:p>
          <a:p>
            <a:pPr lvl="1">
              <a:buFontTx/>
              <a:buChar char="-"/>
            </a:pPr>
            <a:r>
              <a:rPr lang="en-US" sz="1800" dirty="0"/>
              <a:t>Show implementation of basic PHREEQC equilibrium and reaction example </a:t>
            </a:r>
          </a:p>
          <a:p>
            <a:pPr lvl="1">
              <a:buFontTx/>
              <a:buChar char="-"/>
            </a:pPr>
            <a:r>
              <a:rPr lang="en-US" sz="1800" dirty="0"/>
              <a:t>Show implementation of basic PHREEQC 1d transport and ion exchange example</a:t>
            </a:r>
          </a:p>
          <a:p>
            <a:pPr lvl="1">
              <a:buFontTx/>
              <a:buChar char="-"/>
            </a:pPr>
            <a:r>
              <a:rPr lang="en-US" sz="1800" dirty="0"/>
              <a:t>ORCHESTRA “phases” by example</a:t>
            </a:r>
          </a:p>
          <a:p>
            <a:pPr lvl="1">
              <a:buFontTx/>
              <a:buChar char="-"/>
            </a:pPr>
            <a:r>
              <a:rPr lang="en-US" sz="1800" dirty="0"/>
              <a:t>Time for questions</a:t>
            </a:r>
          </a:p>
          <a:p>
            <a:pPr lvl="1">
              <a:buFontTx/>
              <a:buChar char="-"/>
            </a:pPr>
            <a:endParaRPr lang="en-US" sz="1800" dirty="0"/>
          </a:p>
          <a:p>
            <a:pPr lvl="1">
              <a:buFontTx/>
              <a:buChar char="-"/>
            </a:pPr>
            <a:endParaRPr lang="en-US" sz="1800" dirty="0"/>
          </a:p>
          <a:p>
            <a:pPr lvl="1">
              <a:buFontTx/>
              <a:buChar char="-"/>
            </a:pPr>
            <a:endParaRPr lang="en-US" sz="1800" dirty="0"/>
          </a:p>
          <a:p>
            <a:pPr lvl="1">
              <a:buFontTx/>
              <a:buChar char="-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2506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65" y="208344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Introduce myself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839164" y="1195023"/>
            <a:ext cx="1085118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Hans Meeussen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Research scientist at NRG (Nuclear Research and consultancy Group) Petten</a:t>
            </a:r>
          </a:p>
          <a:p>
            <a:pPr marL="285750" indent="-285750">
              <a:buFontTx/>
              <a:buChar char="-"/>
            </a:pPr>
            <a:r>
              <a:rPr lang="en-US" dirty="0"/>
              <a:t>Part time associate professor TU Delft, department of Civil Engineering</a:t>
            </a:r>
          </a:p>
          <a:p>
            <a:endParaRPr lang="en-US" dirty="0"/>
          </a:p>
          <a:p>
            <a:r>
              <a:rPr lang="en-US" b="1" dirty="0"/>
              <a:t>Education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MSc, PhD Wageningen, Soil chemistry / Software engineering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Research interests</a:t>
            </a:r>
          </a:p>
          <a:p>
            <a:pPr marL="285750" indent="-285750">
              <a:buFontTx/>
              <a:buChar char="-"/>
            </a:pPr>
            <a:r>
              <a:rPr lang="en-US" dirty="0"/>
              <a:t>Modelling reactive transport processes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Radionuclide migration in rock, soil and concrete</a:t>
            </a:r>
          </a:p>
          <a:p>
            <a:pPr marL="285750" indent="-285750">
              <a:buFontTx/>
              <a:buChar char="-"/>
            </a:pPr>
            <a:r>
              <a:rPr lang="en-US" dirty="0"/>
              <a:t>Model development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Involvement in chemical model development started in Wageningen University ca. 1990 (ECOSAT).</a:t>
            </a:r>
          </a:p>
          <a:p>
            <a:r>
              <a:rPr lang="en-US" dirty="0"/>
              <a:t>(group Willem van </a:t>
            </a:r>
            <a:r>
              <a:rPr lang="en-US" dirty="0" err="1"/>
              <a:t>Riemsdijk</a:t>
            </a:r>
            <a:r>
              <a:rPr lang="en-US" dirty="0"/>
              <a:t>, developing new adsorption models CD-MUSIC, NICA </a:t>
            </a:r>
            <a:r>
              <a:rPr lang="en-US" dirty="0" err="1"/>
              <a:t>Donnan</a:t>
            </a:r>
            <a:r>
              <a:rPr lang="en-US" dirty="0"/>
              <a:t>, LCD etc.) </a:t>
            </a:r>
          </a:p>
          <a:p>
            <a:endParaRPr lang="en-US" dirty="0"/>
          </a:p>
          <a:p>
            <a:r>
              <a:rPr lang="en-US" dirty="0"/>
              <a:t>ORCHESTRA development started ca. 1994, Macaulay (now Hutton) institute Aberdeen, UK.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77641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97A0-8741-FDBA-39A9-B4F06D01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105" y="157837"/>
            <a:ext cx="12571436" cy="1802818"/>
          </a:xfrm>
        </p:spPr>
        <p:txBody>
          <a:bodyPr>
            <a:normAutofit/>
          </a:bodyPr>
          <a:lstStyle/>
          <a:p>
            <a:r>
              <a:rPr lang="en-US" sz="3200" b="1" dirty="0"/>
              <a:t>Introduction chemical modelling with ORCHESTRA, Part III 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1600" b="1" dirty="0"/>
              <a:t>Hans Meeussen NRG/TU Delft, 27/11/2024</a:t>
            </a:r>
            <a:endParaRPr lang="en-NL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40AB8-C665-FB75-8910-11171A3F2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91" y="1734627"/>
            <a:ext cx="11566698" cy="4718968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r>
              <a:rPr lang="en-US" sz="1800" b="1" dirty="0"/>
              <a:t>Part 1: </a:t>
            </a: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Short general introduction ORCHESTRA</a:t>
            </a:r>
          </a:p>
          <a:p>
            <a:pPr lvl="1">
              <a:buFontTx/>
              <a:buChar char="-"/>
            </a:pPr>
            <a:r>
              <a:rPr lang="en-US" sz="1800" dirty="0"/>
              <a:t>Show implementation of basic PHREEQC example </a:t>
            </a:r>
          </a:p>
          <a:p>
            <a:pPr lvl="1">
              <a:buFontTx/>
              <a:buChar char="-"/>
            </a:pPr>
            <a:r>
              <a:rPr lang="en-US" sz="1800" dirty="0"/>
              <a:t>Description and model file folder can be downloaded from:</a:t>
            </a:r>
          </a:p>
          <a:p>
            <a:pPr lvl="1">
              <a:buFontTx/>
              <a:buChar char="-"/>
            </a:pPr>
            <a:r>
              <a:rPr lang="en-US" sz="1800" dirty="0">
                <a:hlinkClick r:id="rId2"/>
              </a:rPr>
              <a:t>www.meeussen.nl/orchestra/getstarted_phreeqc1.pdf</a:t>
            </a: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>
                <a:hlinkClick r:id="rId3"/>
              </a:rPr>
              <a:t>www.meeussen.nl/orchestra/getstarted_phreeqc1.zip</a:t>
            </a:r>
            <a:endParaRPr lang="en-US" sz="1800" dirty="0"/>
          </a:p>
          <a:p>
            <a:pPr lvl="1">
              <a:buFontTx/>
              <a:buChar char="-"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Define chemical systems with GUI </a:t>
            </a:r>
          </a:p>
          <a:p>
            <a:pPr lvl="2">
              <a:buFontTx/>
              <a:buChar char="-"/>
            </a:pPr>
            <a:r>
              <a:rPr lang="en-US" sz="1400" dirty="0"/>
              <a:t>Selecting primary entities/ master species, (in comparison with PHREEQC/ECOSAT, GWB)</a:t>
            </a:r>
          </a:p>
          <a:p>
            <a:pPr lvl="2">
              <a:buFontTx/>
              <a:buChar char="-"/>
            </a:pPr>
            <a:r>
              <a:rPr lang="en-US" sz="1400" dirty="0"/>
              <a:t>Selecting/unselecting reactions from database</a:t>
            </a:r>
          </a:p>
          <a:p>
            <a:pPr lvl="2">
              <a:buFontTx/>
              <a:buChar char="-"/>
            </a:pPr>
            <a:r>
              <a:rPr lang="en-US" sz="1400" dirty="0"/>
              <a:t>Creating  charge balanced systems</a:t>
            </a:r>
          </a:p>
          <a:p>
            <a:pPr lvl="2">
              <a:buFontTx/>
              <a:buChar char="-"/>
            </a:pPr>
            <a:r>
              <a:rPr lang="en-US" sz="1400" dirty="0"/>
              <a:t>Equilibrium with solid phases</a:t>
            </a:r>
          </a:p>
          <a:p>
            <a:pPr lvl="2">
              <a:buFontTx/>
              <a:buChar char="-"/>
            </a:pPr>
            <a:r>
              <a:rPr lang="en-US" sz="1400" dirty="0"/>
              <a:t>Saturation indices</a:t>
            </a:r>
          </a:p>
          <a:p>
            <a:pPr lvl="2">
              <a:buFontTx/>
              <a:buChar char="-"/>
            </a:pPr>
            <a:r>
              <a:rPr lang="en-US" sz="1400" dirty="0"/>
              <a:t>Equilibrium with gases</a:t>
            </a:r>
          </a:p>
          <a:p>
            <a:pPr lvl="2">
              <a:buFontTx/>
              <a:buChar char="-"/>
            </a:pPr>
            <a:r>
              <a:rPr lang="en-US" sz="1400" dirty="0"/>
              <a:t>Titrating a system with a range of compositions</a:t>
            </a:r>
          </a:p>
          <a:p>
            <a:pPr lvl="2">
              <a:buFontTx/>
              <a:buChar char="-"/>
            </a:pPr>
            <a:endParaRPr lang="en-US" sz="1400" dirty="0"/>
          </a:p>
          <a:p>
            <a:pPr lvl="1">
              <a:buFontTx/>
              <a:buChar char="-"/>
            </a:pPr>
            <a:r>
              <a:rPr lang="en-US" sz="1800" dirty="0"/>
              <a:t>Define input </a:t>
            </a:r>
          </a:p>
          <a:p>
            <a:pPr lvl="1">
              <a:buFontTx/>
              <a:buChar char="-"/>
            </a:pPr>
            <a:r>
              <a:rPr lang="en-US" sz="1800" dirty="0"/>
              <a:t>Define output</a:t>
            </a:r>
          </a:p>
          <a:p>
            <a:pPr lvl="1">
              <a:buFontTx/>
              <a:buChar char="-"/>
            </a:pPr>
            <a:r>
              <a:rPr lang="en-US" sz="1800" dirty="0"/>
              <a:t>Compare with PHREEQC results</a:t>
            </a:r>
          </a:p>
        </p:txBody>
      </p:sp>
    </p:spTree>
    <p:extLst>
      <p:ext uri="{BB962C8B-B14F-4D97-AF65-F5344CB8AC3E}">
        <p14:creationId xmlns:p14="http://schemas.microsoft.com/office/powerpoint/2010/main" val="3065066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97A0-8741-FDBA-39A9-B4F06D01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105" y="157837"/>
            <a:ext cx="12571436" cy="1802818"/>
          </a:xfrm>
        </p:spPr>
        <p:txBody>
          <a:bodyPr>
            <a:normAutofit/>
          </a:bodyPr>
          <a:lstStyle/>
          <a:p>
            <a:r>
              <a:rPr lang="en-US" sz="3200" b="1" dirty="0"/>
              <a:t>Introduction chemical modelling with ORCHESTRA, Part III 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1600" b="1" dirty="0"/>
              <a:t>Hans Meeussen NRG/TU Delft, 27/11/2024</a:t>
            </a:r>
            <a:endParaRPr lang="en-NL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40AB8-C665-FB75-8910-11171A3F2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91" y="1734627"/>
            <a:ext cx="11566698" cy="4718968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sz="1800" b="1" dirty="0"/>
              <a:t>Part 2: </a:t>
            </a:r>
          </a:p>
          <a:p>
            <a:pPr marL="457200" lvl="1" indent="0">
              <a:buNone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Show implementation of basic PHREEQC transport and ion exchange example </a:t>
            </a:r>
          </a:p>
          <a:p>
            <a:pPr lvl="1">
              <a:buFontTx/>
              <a:buChar char="-"/>
            </a:pPr>
            <a:r>
              <a:rPr lang="en-US" sz="1800" dirty="0"/>
              <a:t>Description and model file folder can be downloaded from:</a:t>
            </a:r>
          </a:p>
          <a:p>
            <a:pPr lvl="1">
              <a:buFontTx/>
              <a:buChar char="-"/>
            </a:pPr>
            <a:r>
              <a:rPr lang="en-US" sz="1800" dirty="0">
                <a:hlinkClick r:id="rId2"/>
              </a:rPr>
              <a:t>www.meeussen.nl/orchestra/getstarted_phreeqc11.pdf</a:t>
            </a: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>
                <a:hlinkClick r:id="rId3"/>
              </a:rPr>
              <a:t>www.meeussen.nl/orchestra/getstarted_phreeqc11.zip</a:t>
            </a:r>
            <a:endParaRPr lang="en-US" sz="1800" dirty="0"/>
          </a:p>
          <a:p>
            <a:pPr lvl="1">
              <a:buFontTx/>
              <a:buChar char="-"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Define chemical system with GUI (is similar to first example)</a:t>
            </a:r>
          </a:p>
          <a:p>
            <a:pPr lvl="1">
              <a:buFontTx/>
              <a:buChar char="-"/>
            </a:pPr>
            <a:r>
              <a:rPr lang="en-US" sz="1800" dirty="0"/>
              <a:t>Define transport system (not with GUI, but in text)</a:t>
            </a:r>
          </a:p>
          <a:p>
            <a:pPr lvl="2">
              <a:buFontTx/>
              <a:buChar char="-"/>
            </a:pPr>
            <a:r>
              <a:rPr lang="en-US" sz="1400" dirty="0"/>
              <a:t>Define set of cells/nodes</a:t>
            </a:r>
          </a:p>
          <a:p>
            <a:pPr lvl="2">
              <a:buFontTx/>
              <a:buChar char="-"/>
            </a:pPr>
            <a:r>
              <a:rPr lang="en-US" sz="1400" dirty="0"/>
              <a:t>Define tasks that operate on cells (e.g. equilibrium) </a:t>
            </a:r>
          </a:p>
          <a:p>
            <a:pPr lvl="2">
              <a:buFontTx/>
              <a:buChar char="-"/>
            </a:pPr>
            <a:r>
              <a:rPr lang="en-US" sz="1400" dirty="0"/>
              <a:t>Define tasks that operate on cell connections (advection/dispersion)</a:t>
            </a:r>
          </a:p>
          <a:p>
            <a:pPr lvl="2">
              <a:buFontTx/>
              <a:buChar char="-"/>
            </a:pPr>
            <a:r>
              <a:rPr lang="en-US" sz="1400" dirty="0"/>
              <a:t>Define input/output tasks</a:t>
            </a:r>
          </a:p>
          <a:p>
            <a:pPr lvl="2">
              <a:buFontTx/>
              <a:buChar char="-"/>
            </a:pPr>
            <a:r>
              <a:rPr lang="en-US" sz="1400" dirty="0"/>
              <a:t>Define graphical user output</a:t>
            </a:r>
          </a:p>
          <a:p>
            <a:pPr lvl="2">
              <a:buFontTx/>
              <a:buChar char="-"/>
            </a:pPr>
            <a:endParaRPr lang="en-US" sz="1400" dirty="0"/>
          </a:p>
          <a:p>
            <a:pPr lvl="1">
              <a:buFontTx/>
              <a:buChar char="-"/>
            </a:pPr>
            <a:r>
              <a:rPr lang="en-US" sz="1800" dirty="0"/>
              <a:t>Define input </a:t>
            </a:r>
          </a:p>
          <a:p>
            <a:pPr lvl="1">
              <a:buFontTx/>
              <a:buChar char="-"/>
            </a:pPr>
            <a:r>
              <a:rPr lang="en-US" sz="1800" dirty="0"/>
              <a:t>Define output (which variables, when)</a:t>
            </a:r>
          </a:p>
          <a:p>
            <a:pPr lvl="1">
              <a:buFontTx/>
              <a:buChar char="-"/>
            </a:pPr>
            <a:r>
              <a:rPr lang="en-US" sz="1800" dirty="0"/>
              <a:t>Compare with PHREEQC results</a:t>
            </a:r>
          </a:p>
          <a:p>
            <a:pPr lvl="1">
              <a:buFontTx/>
              <a:buChar char="-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0421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65" y="208344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ORCHESTRA, what is similar to other codes…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839165" y="1208963"/>
            <a:ext cx="8692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solve chemical equilibrium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calculate transport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application area as </a:t>
            </a:r>
            <a:r>
              <a:rPr lang="en-US" sz="1800" dirty="0"/>
              <a:t>PHREEQC, ECOSAT, GEMS, MINTEQ, REAKTORO, GWB ..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read PHREEQC thermodynamic database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chemical system interactively</a:t>
            </a:r>
          </a:p>
          <a:p>
            <a:endParaRPr lang="en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115D918-4D6A-7742-ED9F-E813C8FD002B}"/>
              </a:ext>
            </a:extLst>
          </p:cNvPr>
          <p:cNvSpPr txBox="1">
            <a:spLocks/>
          </p:cNvSpPr>
          <p:nvPr/>
        </p:nvSpPr>
        <p:spPr>
          <a:xfrm>
            <a:off x="839165" y="3632694"/>
            <a:ext cx="10457726" cy="816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ORCHESTRA, what is different to other codes…</a:t>
            </a:r>
            <a:endParaRPr lang="en-NL" sz="3200" dirty="0"/>
          </a:p>
        </p:txBody>
      </p:sp>
    </p:spTree>
    <p:extLst>
      <p:ext uri="{BB962C8B-B14F-4D97-AF65-F5344CB8AC3E}">
        <p14:creationId xmlns:p14="http://schemas.microsoft.com/office/powerpoint/2010/main" val="343966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F5A9-422C-EB45-9C38-CDA2D337D9D8}" type="slidenum">
              <a:rPr lang="fr-FR" smtClean="0"/>
              <a:t>7</a:t>
            </a:fld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7200515" y="4415781"/>
            <a:ext cx="3393090" cy="513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Executable</a:t>
            </a:r>
            <a:r>
              <a:rPr lang="nl-NL" dirty="0"/>
              <a:t> code</a:t>
            </a:r>
            <a:endParaRPr lang="nl-NL" sz="1200" dirty="0"/>
          </a:p>
        </p:txBody>
      </p:sp>
      <p:sp>
        <p:nvSpPr>
          <p:cNvPr id="23" name="Rectangle 22"/>
          <p:cNvSpPr/>
          <p:nvPr/>
        </p:nvSpPr>
        <p:spPr>
          <a:xfrm>
            <a:off x="7200515" y="2822031"/>
            <a:ext cx="3393090" cy="134886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Model </a:t>
            </a:r>
            <a:r>
              <a:rPr lang="nl-NL" dirty="0" err="1"/>
              <a:t>library</a:t>
            </a:r>
            <a:endParaRPr lang="nl-NL" dirty="0"/>
          </a:p>
          <a:p>
            <a:pPr algn="ctr"/>
            <a:r>
              <a:rPr lang="nl-NL" sz="1200" dirty="0"/>
              <a:t>(</a:t>
            </a:r>
            <a:r>
              <a:rPr lang="nl-NL" sz="1200" dirty="0" err="1"/>
              <a:t>Contains</a:t>
            </a:r>
            <a:r>
              <a:rPr lang="nl-NL" sz="1200" dirty="0"/>
              <a:t> </a:t>
            </a:r>
            <a:r>
              <a:rPr lang="nl-NL" sz="1200" dirty="0" err="1"/>
              <a:t>chemical</a:t>
            </a:r>
            <a:r>
              <a:rPr lang="nl-NL" sz="1200" dirty="0"/>
              <a:t> model </a:t>
            </a:r>
            <a:r>
              <a:rPr lang="nl-NL" sz="1200" dirty="0" err="1"/>
              <a:t>definitions</a:t>
            </a:r>
            <a:r>
              <a:rPr lang="nl-NL" sz="1200" dirty="0"/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66595" y="2665151"/>
            <a:ext cx="3695310" cy="254591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Rectangle 28"/>
          <p:cNvSpPr/>
          <p:nvPr/>
        </p:nvSpPr>
        <p:spPr>
          <a:xfrm>
            <a:off x="1130689" y="2773596"/>
            <a:ext cx="3221502" cy="2308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Executable</a:t>
            </a:r>
            <a:r>
              <a:rPr lang="nl-NL" dirty="0"/>
              <a:t> code</a:t>
            </a:r>
          </a:p>
          <a:p>
            <a:pPr algn="ctr"/>
            <a:r>
              <a:rPr lang="nl-NL" sz="1200" dirty="0"/>
              <a:t>(</a:t>
            </a:r>
            <a:r>
              <a:rPr lang="nl-NL" sz="1200" dirty="0" err="1"/>
              <a:t>Contains</a:t>
            </a:r>
            <a:r>
              <a:rPr lang="nl-NL" sz="1200" dirty="0"/>
              <a:t> </a:t>
            </a:r>
            <a:r>
              <a:rPr lang="nl-NL" sz="1200" dirty="0" err="1"/>
              <a:t>chemical</a:t>
            </a:r>
            <a:r>
              <a:rPr lang="nl-NL" sz="1200" dirty="0"/>
              <a:t> model </a:t>
            </a:r>
            <a:r>
              <a:rPr lang="nl-NL" sz="1200" dirty="0" err="1"/>
              <a:t>definitions</a:t>
            </a:r>
            <a:r>
              <a:rPr lang="nl-NL" sz="1200" dirty="0"/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191" y="2665151"/>
            <a:ext cx="3427200" cy="254591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ectangle 36"/>
          <p:cNvSpPr/>
          <p:nvPr/>
        </p:nvSpPr>
        <p:spPr>
          <a:xfrm>
            <a:off x="63908" y="6219855"/>
            <a:ext cx="744467" cy="2493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/>
          </a:p>
        </p:txBody>
      </p:sp>
      <p:sp>
        <p:nvSpPr>
          <p:cNvPr id="38" name="Rectangle 37"/>
          <p:cNvSpPr/>
          <p:nvPr/>
        </p:nvSpPr>
        <p:spPr>
          <a:xfrm>
            <a:off x="72000" y="6547647"/>
            <a:ext cx="736375" cy="245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808375" y="6185982"/>
            <a:ext cx="663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: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40" name="Rectangle 39"/>
          <p:cNvSpPr/>
          <p:nvPr/>
        </p:nvSpPr>
        <p:spPr>
          <a:xfrm>
            <a:off x="808375" y="6503076"/>
            <a:ext cx="1823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: </a:t>
            </a:r>
            <a:r>
              <a:rPr lang="nl-NL" dirty="0" err="1"/>
              <a:t>executable</a:t>
            </a:r>
            <a:r>
              <a:rPr lang="nl-NL" dirty="0"/>
              <a:t>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043" y="129711"/>
            <a:ext cx="9621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Comparison of standard code structure with ORCHESTRA structure</a:t>
            </a:r>
            <a:endParaRPr lang="nl-NL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Left Arrow 14">
            <a:extLst>
              <a:ext uri="{FF2B5EF4-FFF2-40B4-BE49-F238E27FC236}">
                <a16:creationId xmlns:a16="http://schemas.microsoft.com/office/drawing/2014/main" id="{C5915786-B823-319D-6EE3-ECA9E9C64D84}"/>
              </a:ext>
            </a:extLst>
          </p:cNvPr>
          <p:cNvSpPr/>
          <p:nvPr/>
        </p:nvSpPr>
        <p:spPr>
          <a:xfrm rot="13804384">
            <a:off x="7889293" y="1914599"/>
            <a:ext cx="981754" cy="186512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92EAF-A086-7910-3FB6-8DA20382475B}"/>
              </a:ext>
            </a:extLst>
          </p:cNvPr>
          <p:cNvSpPr/>
          <p:nvPr/>
        </p:nvSpPr>
        <p:spPr>
          <a:xfrm>
            <a:off x="3929850" y="892032"/>
            <a:ext cx="3814328" cy="6581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Chemical system </a:t>
            </a:r>
            <a:r>
              <a:rPr lang="nl-NL" dirty="0" err="1"/>
              <a:t>definition</a:t>
            </a:r>
            <a:endParaRPr lang="nl-NL" dirty="0"/>
          </a:p>
          <a:p>
            <a:pPr algn="ctr"/>
            <a:r>
              <a:rPr lang="nl-NL" sz="1400" dirty="0"/>
              <a:t>(</a:t>
            </a:r>
            <a:r>
              <a:rPr lang="nl-NL" sz="1400" dirty="0" err="1"/>
              <a:t>Substances</a:t>
            </a:r>
            <a:r>
              <a:rPr lang="nl-NL" sz="1400" dirty="0"/>
              <a:t>, </a:t>
            </a:r>
            <a:r>
              <a:rPr lang="nl-NL" sz="1400" dirty="0" err="1"/>
              <a:t>reactions</a:t>
            </a:r>
            <a:r>
              <a:rPr lang="nl-NL" sz="1400" dirty="0"/>
              <a:t> …)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5C13E8-EC9D-C89D-E9C8-6357569BC81E}"/>
              </a:ext>
            </a:extLst>
          </p:cNvPr>
          <p:cNvSpPr/>
          <p:nvPr/>
        </p:nvSpPr>
        <p:spPr>
          <a:xfrm>
            <a:off x="3929850" y="1646937"/>
            <a:ext cx="3814328" cy="6581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Data points </a:t>
            </a:r>
          </a:p>
          <a:p>
            <a:pPr algn="ctr"/>
            <a:r>
              <a:rPr lang="nl-NL" sz="1400" dirty="0"/>
              <a:t>(</a:t>
            </a:r>
            <a:r>
              <a:rPr lang="nl-NL" sz="1400" dirty="0" err="1"/>
              <a:t>total</a:t>
            </a:r>
            <a:r>
              <a:rPr lang="nl-NL" sz="1400" dirty="0"/>
              <a:t> </a:t>
            </a:r>
            <a:r>
              <a:rPr lang="nl-NL" sz="1400" dirty="0" err="1"/>
              <a:t>concentrations</a:t>
            </a:r>
            <a:r>
              <a:rPr lang="nl-NL" sz="1400" dirty="0"/>
              <a:t>)</a:t>
            </a:r>
          </a:p>
        </p:txBody>
      </p:sp>
      <p:sp>
        <p:nvSpPr>
          <p:cNvPr id="9" name="Left Arrow 14">
            <a:extLst>
              <a:ext uri="{FF2B5EF4-FFF2-40B4-BE49-F238E27FC236}">
                <a16:creationId xmlns:a16="http://schemas.microsoft.com/office/drawing/2014/main" id="{8AA6594A-FB00-FCB9-59F2-C4539537BB40}"/>
              </a:ext>
            </a:extLst>
          </p:cNvPr>
          <p:cNvSpPr/>
          <p:nvPr/>
        </p:nvSpPr>
        <p:spPr>
          <a:xfrm rot="19059839">
            <a:off x="2546704" y="1992315"/>
            <a:ext cx="981754" cy="186512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80058D-E20B-04D9-FEEF-D8AD9CA8EE99}"/>
              </a:ext>
            </a:extLst>
          </p:cNvPr>
          <p:cNvSpPr/>
          <p:nvPr/>
        </p:nvSpPr>
        <p:spPr>
          <a:xfrm>
            <a:off x="3929850" y="5930212"/>
            <a:ext cx="3814328" cy="6581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Output data points </a:t>
            </a:r>
          </a:p>
          <a:p>
            <a:pPr algn="ctr"/>
            <a:r>
              <a:rPr lang="nl-NL" sz="1400" dirty="0"/>
              <a:t>(</a:t>
            </a:r>
            <a:r>
              <a:rPr lang="nl-NL" sz="1400" dirty="0" err="1"/>
              <a:t>concentrations</a:t>
            </a:r>
            <a:r>
              <a:rPr lang="nl-NL" sz="1400" dirty="0"/>
              <a:t> of </a:t>
            </a:r>
            <a:r>
              <a:rPr lang="nl-NL" sz="1400" dirty="0" err="1"/>
              <a:t>individual</a:t>
            </a:r>
            <a:r>
              <a:rPr lang="nl-NL" sz="1400" dirty="0"/>
              <a:t> species </a:t>
            </a:r>
            <a:r>
              <a:rPr lang="nl-NL" sz="1400" dirty="0" err="1"/>
              <a:t>etc</a:t>
            </a:r>
            <a:r>
              <a:rPr lang="nl-NL" sz="1400" dirty="0"/>
              <a:t>)</a:t>
            </a:r>
          </a:p>
        </p:txBody>
      </p:sp>
      <p:sp>
        <p:nvSpPr>
          <p:cNvPr id="13" name="Left Arrow 14">
            <a:extLst>
              <a:ext uri="{FF2B5EF4-FFF2-40B4-BE49-F238E27FC236}">
                <a16:creationId xmlns:a16="http://schemas.microsoft.com/office/drawing/2014/main" id="{621ACD24-F1D6-A02C-B14C-C8E971A1362C}"/>
              </a:ext>
            </a:extLst>
          </p:cNvPr>
          <p:cNvSpPr/>
          <p:nvPr/>
        </p:nvSpPr>
        <p:spPr>
          <a:xfrm rot="13488199">
            <a:off x="2775458" y="5709933"/>
            <a:ext cx="981754" cy="186512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Left Arrow 14">
            <a:extLst>
              <a:ext uri="{FF2B5EF4-FFF2-40B4-BE49-F238E27FC236}">
                <a16:creationId xmlns:a16="http://schemas.microsoft.com/office/drawing/2014/main" id="{3FD1076A-F03E-A9AD-3C2F-477A7B92AA06}"/>
              </a:ext>
            </a:extLst>
          </p:cNvPr>
          <p:cNvSpPr/>
          <p:nvPr/>
        </p:nvSpPr>
        <p:spPr>
          <a:xfrm rot="19040582">
            <a:off x="8119722" y="5730242"/>
            <a:ext cx="981754" cy="186512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67BA0-D44D-454C-E47C-7AA8F86C0A31}"/>
              </a:ext>
            </a:extLst>
          </p:cNvPr>
          <p:cNvSpPr txBox="1"/>
          <p:nvPr/>
        </p:nvSpPr>
        <p:spPr>
          <a:xfrm>
            <a:off x="97805" y="1066132"/>
            <a:ext cx="324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Standard code structure </a:t>
            </a:r>
            <a:endParaRPr lang="nl-NL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2FACFF-F69D-D3F0-C7CB-3D74AFD32875}"/>
              </a:ext>
            </a:extLst>
          </p:cNvPr>
          <p:cNvSpPr txBox="1"/>
          <p:nvPr/>
        </p:nvSpPr>
        <p:spPr>
          <a:xfrm>
            <a:off x="8206691" y="1068580"/>
            <a:ext cx="369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ORCHESTRA structure</a:t>
            </a:r>
            <a:endParaRPr lang="nl-NL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615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F5A9-422C-EB45-9C38-CDA2D337D9D8}" type="slidenum">
              <a:rPr lang="fr-FR" smtClean="0"/>
              <a:t>8</a:t>
            </a:fld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6778560" y="4846927"/>
            <a:ext cx="3393090" cy="513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Generic</a:t>
            </a:r>
            <a:r>
              <a:rPr lang="nl-NL" dirty="0"/>
              <a:t> </a:t>
            </a:r>
            <a:r>
              <a:rPr lang="nl-NL" dirty="0" err="1"/>
              <a:t>solver</a:t>
            </a:r>
            <a:r>
              <a:rPr lang="nl-NL" dirty="0"/>
              <a:t> (Java)</a:t>
            </a:r>
          </a:p>
          <a:p>
            <a:pPr algn="ctr"/>
            <a:r>
              <a:rPr lang="nl-NL" sz="1200" dirty="0"/>
              <a:t>(variables, </a:t>
            </a:r>
            <a:r>
              <a:rPr lang="nl-NL" sz="1200" dirty="0" err="1"/>
              <a:t>expressions</a:t>
            </a:r>
            <a:r>
              <a:rPr lang="nl-NL" sz="1200" dirty="0"/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78560" y="3253177"/>
            <a:ext cx="3393090" cy="134886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Model object </a:t>
            </a:r>
            <a:r>
              <a:rPr lang="nl-NL" dirty="0" err="1"/>
              <a:t>library</a:t>
            </a:r>
            <a:endParaRPr lang="nl-NL" dirty="0"/>
          </a:p>
          <a:p>
            <a:pPr algn="ctr"/>
            <a:r>
              <a:rPr lang="nl-NL" sz="1400" dirty="0"/>
              <a:t>(user </a:t>
            </a:r>
            <a:r>
              <a:rPr lang="nl-NL" sz="1400" dirty="0" err="1"/>
              <a:t>definable</a:t>
            </a:r>
            <a:r>
              <a:rPr lang="nl-NL" sz="1400" dirty="0"/>
              <a:t> </a:t>
            </a:r>
            <a:r>
              <a:rPr lang="nl-NL" sz="1400" dirty="0" err="1"/>
              <a:t>chemical</a:t>
            </a:r>
            <a:r>
              <a:rPr lang="nl-NL" sz="1400" dirty="0"/>
              <a:t> model </a:t>
            </a:r>
            <a:r>
              <a:rPr lang="nl-NL" sz="1400" dirty="0" err="1"/>
              <a:t>definitions</a:t>
            </a:r>
            <a:endParaRPr lang="nl-NL" sz="1400" dirty="0"/>
          </a:p>
          <a:p>
            <a:pPr algn="ctr"/>
            <a:r>
              <a:rPr lang="nl-NL" sz="1400" dirty="0"/>
              <a:t>variables, </a:t>
            </a:r>
            <a:r>
              <a:rPr lang="nl-NL" sz="1400" dirty="0" err="1"/>
              <a:t>expressions</a:t>
            </a:r>
            <a:r>
              <a:rPr lang="nl-NL" sz="1400" dirty="0"/>
              <a:t>, </a:t>
            </a:r>
            <a:r>
              <a:rPr lang="nl-NL" sz="1400" dirty="0" err="1"/>
              <a:t>equations</a:t>
            </a:r>
            <a:r>
              <a:rPr lang="nl-NL" sz="1400" dirty="0"/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4640" y="3096297"/>
            <a:ext cx="3695310" cy="254591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Rectangle 28"/>
          <p:cNvSpPr/>
          <p:nvPr/>
        </p:nvSpPr>
        <p:spPr>
          <a:xfrm>
            <a:off x="1548378" y="3204742"/>
            <a:ext cx="3221502" cy="2308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Specific</a:t>
            </a:r>
            <a:r>
              <a:rPr lang="nl-NL" dirty="0"/>
              <a:t> model code (C</a:t>
            </a:r>
            <a:r>
              <a:rPr lang="nl-NL" baseline="30000" dirty="0"/>
              <a:t>++</a:t>
            </a:r>
            <a:r>
              <a:rPr lang="nl-NL" dirty="0"/>
              <a:t>)</a:t>
            </a:r>
          </a:p>
          <a:p>
            <a:pPr algn="ctr"/>
            <a:r>
              <a:rPr lang="nl-NL" sz="1200" dirty="0"/>
              <a:t>(</a:t>
            </a:r>
            <a:r>
              <a:rPr lang="nl-NL" sz="1200" dirty="0" err="1"/>
              <a:t>fixed</a:t>
            </a:r>
            <a:r>
              <a:rPr lang="nl-NL" sz="1200" dirty="0"/>
              <a:t> set of  model </a:t>
            </a:r>
            <a:r>
              <a:rPr lang="nl-NL" sz="1200" dirty="0" err="1"/>
              <a:t>definitions</a:t>
            </a:r>
            <a:r>
              <a:rPr lang="nl-NL" sz="1200" dirty="0"/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36880" y="3096297"/>
            <a:ext cx="3427200" cy="254591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TextBox 34"/>
          <p:cNvSpPr txBox="1"/>
          <p:nvPr/>
        </p:nvSpPr>
        <p:spPr>
          <a:xfrm>
            <a:off x="1140132" y="1418779"/>
            <a:ext cx="45036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Standard code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structure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(e.g. PHREEQC, GEMS, GWB, Visual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Minteq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, HYTEC, ECOSAT …….)</a:t>
            </a:r>
          </a:p>
          <a:p>
            <a:endParaRPr lang="nl-NL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Chemical model definitions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inside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executable</a:t>
            </a:r>
            <a:endParaRPr lang="nl-NL" dirty="0">
              <a:solidFill>
                <a:schemeClr val="tx2">
                  <a:lumMod val="50000"/>
                </a:schemeClr>
              </a:solidFill>
            </a:endParaRPr>
          </a:p>
          <a:p>
            <a:endParaRPr lang="nl-NL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619428" y="1418779"/>
            <a:ext cx="49832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ORCHESTRA code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structure</a:t>
            </a:r>
            <a:endParaRPr lang="nl-NL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nl-NL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Chemical model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definitions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in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external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text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file(s)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08" y="6219855"/>
            <a:ext cx="744467" cy="2493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/>
          </a:p>
        </p:txBody>
      </p:sp>
      <p:sp>
        <p:nvSpPr>
          <p:cNvPr id="38" name="Rectangle 37"/>
          <p:cNvSpPr/>
          <p:nvPr/>
        </p:nvSpPr>
        <p:spPr>
          <a:xfrm>
            <a:off x="72000" y="6547647"/>
            <a:ext cx="736375" cy="245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808375" y="6185982"/>
            <a:ext cx="663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: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40" name="Rectangle 39"/>
          <p:cNvSpPr/>
          <p:nvPr/>
        </p:nvSpPr>
        <p:spPr>
          <a:xfrm>
            <a:off x="808375" y="6503076"/>
            <a:ext cx="1431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: source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0132" y="349188"/>
            <a:ext cx="9621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Comparison of standard solver structure with ORCHESTRA solver structure</a:t>
            </a:r>
            <a:endParaRPr lang="nl-NL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Left Arrow 14">
            <a:extLst>
              <a:ext uri="{FF2B5EF4-FFF2-40B4-BE49-F238E27FC236}">
                <a16:creationId xmlns:a16="http://schemas.microsoft.com/office/drawing/2014/main" id="{C5915786-B823-319D-6EE3-ECA9E9C64D84}"/>
              </a:ext>
            </a:extLst>
          </p:cNvPr>
          <p:cNvSpPr/>
          <p:nvPr/>
        </p:nvSpPr>
        <p:spPr>
          <a:xfrm rot="8681788">
            <a:off x="6487114" y="6005532"/>
            <a:ext cx="981754" cy="186512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Left Arrow 15">
            <a:extLst>
              <a:ext uri="{FF2B5EF4-FFF2-40B4-BE49-F238E27FC236}">
                <a16:creationId xmlns:a16="http://schemas.microsoft.com/office/drawing/2014/main" id="{06E40D5F-4DE7-E4C4-778E-C8C0E36B2FAE}"/>
              </a:ext>
            </a:extLst>
          </p:cNvPr>
          <p:cNvSpPr/>
          <p:nvPr/>
        </p:nvSpPr>
        <p:spPr>
          <a:xfrm rot="3051303">
            <a:off x="3878222" y="6001471"/>
            <a:ext cx="729417" cy="213642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5F8B3-97C8-2879-BDB1-440195609022}"/>
              </a:ext>
            </a:extLst>
          </p:cNvPr>
          <p:cNvSpPr txBox="1"/>
          <p:nvPr/>
        </p:nvSpPr>
        <p:spPr>
          <a:xfrm>
            <a:off x="4571377" y="6318410"/>
            <a:ext cx="1936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9991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F5A9-422C-EB45-9C38-CDA2D337D9D8}" type="slidenum">
              <a:rPr lang="fr-FR" smtClean="0"/>
              <a:t>9</a:t>
            </a:fld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6778560" y="4846927"/>
            <a:ext cx="3393090" cy="513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Generic</a:t>
            </a:r>
            <a:r>
              <a:rPr lang="nl-NL" dirty="0"/>
              <a:t> </a:t>
            </a:r>
            <a:r>
              <a:rPr lang="nl-NL" dirty="0" err="1"/>
              <a:t>solver</a:t>
            </a:r>
            <a:r>
              <a:rPr lang="nl-NL" dirty="0"/>
              <a:t> (Java)</a:t>
            </a:r>
          </a:p>
          <a:p>
            <a:pPr algn="ctr"/>
            <a:r>
              <a:rPr lang="nl-NL" sz="1200" dirty="0"/>
              <a:t>(variables, </a:t>
            </a:r>
            <a:r>
              <a:rPr lang="nl-NL" sz="1200" dirty="0" err="1"/>
              <a:t>expressions</a:t>
            </a:r>
            <a:r>
              <a:rPr lang="nl-NL" sz="1200" dirty="0"/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78560" y="3253177"/>
            <a:ext cx="3393090" cy="134886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Model object </a:t>
            </a:r>
            <a:r>
              <a:rPr lang="nl-NL" dirty="0" err="1"/>
              <a:t>library</a:t>
            </a:r>
            <a:endParaRPr lang="nl-NL" dirty="0"/>
          </a:p>
          <a:p>
            <a:pPr algn="ctr"/>
            <a:r>
              <a:rPr lang="nl-NL" sz="1400" dirty="0"/>
              <a:t>(user </a:t>
            </a:r>
            <a:r>
              <a:rPr lang="nl-NL" sz="1400" dirty="0" err="1"/>
              <a:t>definable</a:t>
            </a:r>
            <a:r>
              <a:rPr lang="nl-NL" sz="1400" dirty="0"/>
              <a:t> </a:t>
            </a:r>
            <a:r>
              <a:rPr lang="nl-NL" sz="1400" dirty="0" err="1"/>
              <a:t>chemical</a:t>
            </a:r>
            <a:r>
              <a:rPr lang="nl-NL" sz="1400" dirty="0"/>
              <a:t> model </a:t>
            </a:r>
            <a:r>
              <a:rPr lang="nl-NL" sz="1400" dirty="0" err="1"/>
              <a:t>definitions</a:t>
            </a:r>
            <a:endParaRPr lang="nl-NL" sz="1400" dirty="0"/>
          </a:p>
          <a:p>
            <a:pPr algn="ctr"/>
            <a:r>
              <a:rPr lang="nl-NL" sz="1400" dirty="0"/>
              <a:t>variables, </a:t>
            </a:r>
            <a:r>
              <a:rPr lang="nl-NL" sz="1400" dirty="0" err="1"/>
              <a:t>expressions</a:t>
            </a:r>
            <a:r>
              <a:rPr lang="nl-NL" sz="1400" dirty="0"/>
              <a:t>, </a:t>
            </a:r>
            <a:r>
              <a:rPr lang="nl-NL" sz="1400" dirty="0" err="1"/>
              <a:t>equations</a:t>
            </a:r>
            <a:r>
              <a:rPr lang="nl-NL" sz="1400" dirty="0"/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4640" y="3096297"/>
            <a:ext cx="3695310" cy="254591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Rectangle 28"/>
          <p:cNvSpPr/>
          <p:nvPr/>
        </p:nvSpPr>
        <p:spPr>
          <a:xfrm>
            <a:off x="1548378" y="3204742"/>
            <a:ext cx="3221502" cy="2308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Specific</a:t>
            </a:r>
            <a:r>
              <a:rPr lang="nl-NL" dirty="0"/>
              <a:t> model code (C</a:t>
            </a:r>
            <a:r>
              <a:rPr lang="nl-NL" baseline="30000" dirty="0"/>
              <a:t>++</a:t>
            </a:r>
            <a:r>
              <a:rPr lang="nl-NL" dirty="0"/>
              <a:t>)</a:t>
            </a:r>
          </a:p>
          <a:p>
            <a:pPr algn="ctr"/>
            <a:r>
              <a:rPr lang="nl-NL" sz="1200" dirty="0"/>
              <a:t>(</a:t>
            </a:r>
            <a:r>
              <a:rPr lang="nl-NL" sz="1200" dirty="0" err="1"/>
              <a:t>fixed</a:t>
            </a:r>
            <a:r>
              <a:rPr lang="nl-NL" sz="1200" dirty="0"/>
              <a:t> set of  model </a:t>
            </a:r>
            <a:r>
              <a:rPr lang="nl-NL" sz="1200" dirty="0" err="1"/>
              <a:t>definitions</a:t>
            </a:r>
            <a:r>
              <a:rPr lang="nl-NL" sz="1200" dirty="0"/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36880" y="3096297"/>
            <a:ext cx="3427200" cy="254591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TextBox 34"/>
          <p:cNvSpPr txBox="1"/>
          <p:nvPr/>
        </p:nvSpPr>
        <p:spPr>
          <a:xfrm>
            <a:off x="1140132" y="1418779"/>
            <a:ext cx="45036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Standard code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structure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(e.g. PHREEQC, GEMS, GWB, Visual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Minteq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, HYTEC, ECOSAT …….)</a:t>
            </a:r>
          </a:p>
          <a:p>
            <a:endParaRPr lang="nl-NL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Chemical model definitions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inside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executable</a:t>
            </a:r>
            <a:endParaRPr lang="nl-NL" dirty="0">
              <a:solidFill>
                <a:schemeClr val="tx2">
                  <a:lumMod val="50000"/>
                </a:schemeClr>
              </a:solidFill>
            </a:endParaRPr>
          </a:p>
          <a:p>
            <a:endParaRPr lang="nl-NL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619428" y="1418779"/>
            <a:ext cx="49832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ORCHESTRA code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structure</a:t>
            </a:r>
            <a:endParaRPr lang="nl-NL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nl-NL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Chemical model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definitions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in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external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text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file(s)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08" y="6219855"/>
            <a:ext cx="744467" cy="2493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/>
          </a:p>
        </p:txBody>
      </p:sp>
      <p:sp>
        <p:nvSpPr>
          <p:cNvPr id="38" name="Rectangle 37"/>
          <p:cNvSpPr/>
          <p:nvPr/>
        </p:nvSpPr>
        <p:spPr>
          <a:xfrm>
            <a:off x="72000" y="6547647"/>
            <a:ext cx="736375" cy="245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808375" y="6185982"/>
            <a:ext cx="663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: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40" name="Rectangle 39"/>
          <p:cNvSpPr/>
          <p:nvPr/>
        </p:nvSpPr>
        <p:spPr>
          <a:xfrm>
            <a:off x="808375" y="6503076"/>
            <a:ext cx="1431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: source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0132" y="349188"/>
            <a:ext cx="9621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Comparison of standard solver structure with ORCHESTRA solver structure</a:t>
            </a:r>
            <a:endParaRPr lang="nl-NL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Left Arrow 14">
            <a:extLst>
              <a:ext uri="{FF2B5EF4-FFF2-40B4-BE49-F238E27FC236}">
                <a16:creationId xmlns:a16="http://schemas.microsoft.com/office/drawing/2014/main" id="{C5915786-B823-319D-6EE3-ECA9E9C64D84}"/>
              </a:ext>
            </a:extLst>
          </p:cNvPr>
          <p:cNvSpPr/>
          <p:nvPr/>
        </p:nvSpPr>
        <p:spPr>
          <a:xfrm rot="8681788">
            <a:off x="6487114" y="6005532"/>
            <a:ext cx="981754" cy="186512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Left Arrow 15">
            <a:extLst>
              <a:ext uri="{FF2B5EF4-FFF2-40B4-BE49-F238E27FC236}">
                <a16:creationId xmlns:a16="http://schemas.microsoft.com/office/drawing/2014/main" id="{06E40D5F-4DE7-E4C4-778E-C8C0E36B2FAE}"/>
              </a:ext>
            </a:extLst>
          </p:cNvPr>
          <p:cNvSpPr/>
          <p:nvPr/>
        </p:nvSpPr>
        <p:spPr>
          <a:xfrm rot="3051303">
            <a:off x="3878222" y="6001471"/>
            <a:ext cx="729417" cy="213642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5F8B3-97C8-2879-BDB1-440195609022}"/>
              </a:ext>
            </a:extLst>
          </p:cNvPr>
          <p:cNvSpPr txBox="1"/>
          <p:nvPr/>
        </p:nvSpPr>
        <p:spPr>
          <a:xfrm>
            <a:off x="4571377" y="6318410"/>
            <a:ext cx="1936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functionality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DC02D-0ADE-358A-0754-A488BF3A86D6}"/>
              </a:ext>
            </a:extLst>
          </p:cNvPr>
          <p:cNvSpPr txBox="1"/>
          <p:nvPr/>
        </p:nvSpPr>
        <p:spPr>
          <a:xfrm>
            <a:off x="4677888" y="2803535"/>
            <a:ext cx="2229105" cy="34163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ORCHESTRA solver </a:t>
            </a:r>
            <a:r>
              <a:rPr lang="en-US" dirty="0"/>
              <a:t>can use data (numbers) but </a:t>
            </a:r>
            <a:r>
              <a:rPr lang="en-US" b="1" dirty="0"/>
              <a:t>also code (variables, expressions, equations) as input!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Databases can contain code as well as parameters</a:t>
            </a:r>
            <a:endParaRPr lang="en-GB" b="1" dirty="0"/>
          </a:p>
        </p:txBody>
      </p:sp>
      <p:sp>
        <p:nvSpPr>
          <p:cNvPr id="7" name="Left Arrow 14">
            <a:extLst>
              <a:ext uri="{FF2B5EF4-FFF2-40B4-BE49-F238E27FC236}">
                <a16:creationId xmlns:a16="http://schemas.microsoft.com/office/drawing/2014/main" id="{5956DF9B-88D5-5890-5A14-DD1F366507A0}"/>
              </a:ext>
            </a:extLst>
          </p:cNvPr>
          <p:cNvSpPr/>
          <p:nvPr/>
        </p:nvSpPr>
        <p:spPr>
          <a:xfrm rot="12649563">
            <a:off x="6282702" y="4795532"/>
            <a:ext cx="981754" cy="186512"/>
          </a:xfrm>
          <a:prstGeom prst="lef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709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F5A9-422C-EB45-9C38-CDA2D337D9D8}" type="slidenum">
              <a:rPr lang="fr-FR" smtClean="0"/>
              <a:t>10</a:t>
            </a:fld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6778560" y="4846927"/>
            <a:ext cx="3393090" cy="513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Generic</a:t>
            </a:r>
            <a:r>
              <a:rPr lang="nl-NL" dirty="0"/>
              <a:t> </a:t>
            </a:r>
            <a:r>
              <a:rPr lang="nl-NL" dirty="0" err="1"/>
              <a:t>solver</a:t>
            </a:r>
            <a:r>
              <a:rPr lang="nl-NL" dirty="0"/>
              <a:t> (Java)</a:t>
            </a:r>
          </a:p>
          <a:p>
            <a:pPr algn="ctr"/>
            <a:r>
              <a:rPr lang="nl-NL" sz="1200" dirty="0"/>
              <a:t>(variables, </a:t>
            </a:r>
            <a:r>
              <a:rPr lang="nl-NL" sz="1200" dirty="0" err="1"/>
              <a:t>expressions</a:t>
            </a:r>
            <a:r>
              <a:rPr lang="nl-NL" sz="1200" dirty="0"/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78560" y="3253177"/>
            <a:ext cx="3393090" cy="134886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Model object </a:t>
            </a:r>
            <a:r>
              <a:rPr lang="nl-NL" dirty="0" err="1"/>
              <a:t>library</a:t>
            </a:r>
            <a:endParaRPr lang="nl-NL" dirty="0"/>
          </a:p>
          <a:p>
            <a:pPr algn="ctr"/>
            <a:r>
              <a:rPr lang="nl-NL" sz="1400" dirty="0"/>
              <a:t>(user </a:t>
            </a:r>
            <a:r>
              <a:rPr lang="nl-NL" sz="1400" dirty="0" err="1"/>
              <a:t>definable</a:t>
            </a:r>
            <a:r>
              <a:rPr lang="nl-NL" sz="1400" dirty="0"/>
              <a:t> </a:t>
            </a:r>
            <a:r>
              <a:rPr lang="nl-NL" sz="1400" dirty="0" err="1"/>
              <a:t>chemical</a:t>
            </a:r>
            <a:r>
              <a:rPr lang="nl-NL" sz="1400" dirty="0"/>
              <a:t> model </a:t>
            </a:r>
            <a:r>
              <a:rPr lang="nl-NL" sz="1400" dirty="0" err="1"/>
              <a:t>definitions</a:t>
            </a:r>
            <a:endParaRPr lang="nl-NL" sz="1400" dirty="0"/>
          </a:p>
          <a:p>
            <a:pPr algn="ctr"/>
            <a:r>
              <a:rPr lang="nl-NL" sz="1400" dirty="0"/>
              <a:t>variables, </a:t>
            </a:r>
            <a:r>
              <a:rPr lang="nl-NL" sz="1400" dirty="0" err="1"/>
              <a:t>expressions</a:t>
            </a:r>
            <a:r>
              <a:rPr lang="nl-NL" sz="1400" dirty="0"/>
              <a:t>, </a:t>
            </a:r>
            <a:r>
              <a:rPr lang="nl-NL" sz="1400" dirty="0" err="1"/>
              <a:t>equations</a:t>
            </a:r>
            <a:r>
              <a:rPr lang="nl-NL" sz="1400" dirty="0"/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4640" y="3096297"/>
            <a:ext cx="3695310" cy="254591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TextBox 35"/>
          <p:cNvSpPr txBox="1"/>
          <p:nvPr/>
        </p:nvSpPr>
        <p:spPr>
          <a:xfrm>
            <a:off x="6612501" y="1218636"/>
            <a:ext cx="4715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Advantages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:</a:t>
            </a:r>
          </a:p>
          <a:p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Users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can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b="1" dirty="0"/>
              <a:t>change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add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models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without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the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need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to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change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the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solver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source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Solver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executable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is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very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b="1" dirty="0">
                <a:solidFill>
                  <a:schemeClr val="tx2">
                    <a:lumMod val="50000"/>
                  </a:schemeClr>
                </a:solidFill>
              </a:rPr>
              <a:t>small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2">
                    <a:lumMod val="50000"/>
                  </a:schemeClr>
                </a:solidFill>
              </a:rPr>
              <a:t>and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nl-NL" b="1" dirty="0" err="1">
                <a:solidFill>
                  <a:schemeClr val="tx2">
                    <a:lumMod val="50000"/>
                  </a:schemeClr>
                </a:solidFill>
              </a:rPr>
              <a:t>simple</a:t>
            </a:r>
            <a:r>
              <a:rPr lang="nl-NL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08" y="6219855"/>
            <a:ext cx="744467" cy="2493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/>
          </a:p>
        </p:txBody>
      </p:sp>
      <p:sp>
        <p:nvSpPr>
          <p:cNvPr id="38" name="Rectangle 37"/>
          <p:cNvSpPr/>
          <p:nvPr/>
        </p:nvSpPr>
        <p:spPr>
          <a:xfrm>
            <a:off x="72000" y="6547647"/>
            <a:ext cx="736375" cy="245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808375" y="6185982"/>
            <a:ext cx="663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: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40" name="Rectangle 39"/>
          <p:cNvSpPr/>
          <p:nvPr/>
        </p:nvSpPr>
        <p:spPr>
          <a:xfrm>
            <a:off x="808375" y="6503076"/>
            <a:ext cx="1431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: source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58455" y="296315"/>
            <a:ext cx="884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ORCHESTRA: all chemical “knowledge” present in input text file(s)</a:t>
            </a:r>
            <a:endParaRPr lang="nl-NL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71890" y="1310640"/>
            <a:ext cx="4715550" cy="47650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b="1" dirty="0"/>
              <a:t>Model object </a:t>
            </a:r>
            <a:r>
              <a:rPr lang="nl-NL" b="1" dirty="0" err="1"/>
              <a:t>library</a:t>
            </a:r>
            <a:r>
              <a:rPr lang="nl-NL" b="1" dirty="0"/>
              <a:t> </a:t>
            </a:r>
            <a:r>
              <a:rPr lang="nl-NL" b="1" dirty="0" err="1"/>
              <a:t>text</a:t>
            </a:r>
            <a:r>
              <a:rPr lang="nl-NL" b="1" dirty="0"/>
              <a:t> file </a:t>
            </a:r>
          </a:p>
          <a:p>
            <a:r>
              <a:rPr lang="nl-NL" b="1" dirty="0" err="1"/>
              <a:t>contains</a:t>
            </a:r>
            <a:r>
              <a:rPr lang="nl-NL" b="1" dirty="0"/>
              <a:t> </a:t>
            </a:r>
            <a:r>
              <a:rPr lang="en-US" b="1" dirty="0"/>
              <a:t>definitions of e.g.: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Master species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Aqueous species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Activity correction models (Davies, Debye </a:t>
            </a:r>
            <a:r>
              <a:rPr lang="en-US" sz="1400" dirty="0" err="1"/>
              <a:t>Hueckel</a:t>
            </a:r>
            <a:r>
              <a:rPr lang="en-US" sz="1400" dirty="0"/>
              <a:t>, SIT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Solid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Gas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Solid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Ion exchange </a:t>
            </a:r>
            <a:r>
              <a:rPr lang="en-US" sz="1400" dirty="0" err="1"/>
              <a:t>Vanselow</a:t>
            </a:r>
            <a:r>
              <a:rPr lang="en-US" sz="1400" dirty="0"/>
              <a:t> Gaines Thomas, etc..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Surface complexation models (Basic stern, </a:t>
            </a:r>
            <a:r>
              <a:rPr lang="en-US" sz="1400" dirty="0" err="1"/>
              <a:t>Dzombak</a:t>
            </a:r>
            <a:r>
              <a:rPr lang="en-US" sz="1400" dirty="0"/>
              <a:t> and Morel, CD Music, Bradbury </a:t>
            </a:r>
            <a:r>
              <a:rPr lang="en-US" sz="1400" dirty="0" err="1"/>
              <a:t>Bayens</a:t>
            </a:r>
            <a:r>
              <a:rPr lang="en-US" sz="1400" dirty="0"/>
              <a:t>……)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NICA – </a:t>
            </a:r>
            <a:r>
              <a:rPr lang="en-US" sz="1400" dirty="0" err="1"/>
              <a:t>Donnan</a:t>
            </a:r>
            <a:r>
              <a:rPr lang="en-US" sz="1400" dirty="0"/>
              <a:t> distributed log K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……….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All</a:t>
            </a:r>
            <a:r>
              <a:rPr lang="en-US" sz="1400" dirty="0"/>
              <a:t> ORCHESTRA “</a:t>
            </a:r>
            <a:r>
              <a:rPr lang="en-US" sz="1400" b="1" dirty="0"/>
              <a:t>chemical knowledge</a:t>
            </a:r>
            <a:r>
              <a:rPr lang="en-US" sz="1400" dirty="0"/>
              <a:t>” is concentrated here.</a:t>
            </a:r>
          </a:p>
          <a:p>
            <a:endParaRPr lang="en-US" dirty="0"/>
          </a:p>
          <a:p>
            <a:r>
              <a:rPr lang="en-US" b="1" dirty="0"/>
              <a:t>www.meeussen.nl/orchestra/objects2024.txt</a:t>
            </a:r>
          </a:p>
        </p:txBody>
      </p:sp>
      <p:sp>
        <p:nvSpPr>
          <p:cNvPr id="2" name="Left Arrow 1"/>
          <p:cNvSpPr/>
          <p:nvPr/>
        </p:nvSpPr>
        <p:spPr>
          <a:xfrm rot="11778676">
            <a:off x="5808975" y="3301231"/>
            <a:ext cx="1214129" cy="509686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0867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F5A9-422C-EB45-9C38-CDA2D337D9D8}" type="slidenum">
              <a:rPr lang="fr-FR" smtClean="0"/>
              <a:t>11</a:t>
            </a:fld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1105145" y="3110396"/>
            <a:ext cx="2295640" cy="513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Generic</a:t>
            </a:r>
            <a:r>
              <a:rPr lang="nl-NL" dirty="0"/>
              <a:t> </a:t>
            </a:r>
            <a:r>
              <a:rPr lang="nl-NL" dirty="0" err="1"/>
              <a:t>solver</a:t>
            </a:r>
            <a:r>
              <a:rPr lang="nl-NL" dirty="0"/>
              <a:t> (Java)</a:t>
            </a:r>
          </a:p>
          <a:p>
            <a:pPr algn="ctr"/>
            <a:r>
              <a:rPr lang="nl-NL" sz="1200" dirty="0"/>
              <a:t>(variables, </a:t>
            </a:r>
            <a:r>
              <a:rPr lang="nl-NL" sz="1200" dirty="0" err="1"/>
              <a:t>expressions</a:t>
            </a:r>
            <a:r>
              <a:rPr lang="nl-NL" sz="1200" dirty="0"/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5144" y="1516645"/>
            <a:ext cx="8992481" cy="131193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Model object </a:t>
            </a:r>
            <a:r>
              <a:rPr lang="nl-NL" dirty="0" err="1"/>
              <a:t>library</a:t>
            </a:r>
            <a:r>
              <a:rPr lang="nl-NL" dirty="0"/>
              <a:t> (objects2024.txt)</a:t>
            </a:r>
          </a:p>
          <a:p>
            <a:pPr algn="ctr"/>
            <a:r>
              <a:rPr lang="nl-NL" sz="1400" dirty="0"/>
              <a:t>(user </a:t>
            </a:r>
            <a:r>
              <a:rPr lang="nl-NL" sz="1400" dirty="0" err="1"/>
              <a:t>definable</a:t>
            </a:r>
            <a:r>
              <a:rPr lang="nl-NL" sz="1400" dirty="0"/>
              <a:t> </a:t>
            </a:r>
            <a:r>
              <a:rPr lang="nl-NL" sz="1400" dirty="0" err="1"/>
              <a:t>chemical</a:t>
            </a:r>
            <a:r>
              <a:rPr lang="nl-NL" sz="1400" dirty="0"/>
              <a:t> model </a:t>
            </a:r>
            <a:r>
              <a:rPr lang="nl-NL" sz="1400" dirty="0" err="1"/>
              <a:t>definitions</a:t>
            </a:r>
            <a:endParaRPr lang="nl-NL" sz="1400" dirty="0"/>
          </a:p>
          <a:p>
            <a:pPr algn="ctr"/>
            <a:r>
              <a:rPr lang="nl-NL" sz="1400" dirty="0"/>
              <a:t>variables, </a:t>
            </a:r>
            <a:r>
              <a:rPr lang="nl-NL" sz="1400" dirty="0" err="1"/>
              <a:t>expressions</a:t>
            </a:r>
            <a:r>
              <a:rPr lang="nl-NL" sz="1400" dirty="0"/>
              <a:t>, </a:t>
            </a:r>
            <a:r>
              <a:rPr lang="nl-NL" sz="1400" dirty="0" err="1"/>
              <a:t>equations</a:t>
            </a:r>
            <a:r>
              <a:rPr lang="nl-NL" sz="1400" dirty="0"/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225" y="1359766"/>
            <a:ext cx="9310332" cy="254591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TextBox 35"/>
          <p:cNvSpPr txBox="1"/>
          <p:nvPr/>
        </p:nvSpPr>
        <p:spPr>
          <a:xfrm>
            <a:off x="742131" y="4504134"/>
            <a:ext cx="9956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ORCHESTRA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solver structure allows: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To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change chemical models without changing executable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(useful for chemical model development)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To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change executable without changing chemical models  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(useful for developing C</a:t>
            </a:r>
            <a:r>
              <a:rPr lang="en-US" baseline="30000" dirty="0">
                <a:solidFill>
                  <a:schemeClr val="tx2">
                    <a:lumMod val="50000"/>
                  </a:schemeClr>
                </a:solidFill>
              </a:rPr>
              <a:t>++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version,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      but also useful for possible future developments) </a:t>
            </a:r>
            <a:endParaRPr lang="nl-NL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31590" y="290337"/>
            <a:ext cx="9389601" cy="83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The structure of ORCHESTRA allows to update the solver independently of the chemical model library (and vice versa)</a:t>
            </a:r>
            <a:endParaRPr lang="nl-NL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24305" y="3110396"/>
            <a:ext cx="2371630" cy="513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Generic</a:t>
            </a:r>
            <a:r>
              <a:rPr lang="nl-NL" dirty="0"/>
              <a:t> </a:t>
            </a:r>
            <a:r>
              <a:rPr lang="nl-NL" dirty="0" err="1"/>
              <a:t>solver</a:t>
            </a:r>
            <a:r>
              <a:rPr lang="nl-NL" dirty="0"/>
              <a:t> (C++)</a:t>
            </a:r>
          </a:p>
          <a:p>
            <a:pPr algn="ctr"/>
            <a:r>
              <a:rPr lang="nl-NL" sz="1200" dirty="0"/>
              <a:t>(variables, </a:t>
            </a:r>
            <a:r>
              <a:rPr lang="nl-NL" sz="1200" dirty="0" err="1"/>
              <a:t>expressions</a:t>
            </a:r>
            <a:r>
              <a:rPr lang="nl-NL" sz="1200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77B656-CE6C-F525-6C7B-5D2752939E3C}"/>
              </a:ext>
            </a:extLst>
          </p:cNvPr>
          <p:cNvSpPr/>
          <p:nvPr/>
        </p:nvSpPr>
        <p:spPr>
          <a:xfrm>
            <a:off x="6231397" y="3110396"/>
            <a:ext cx="2228287" cy="513471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solidFill>
              <a:schemeClr val="accent1">
                <a:shade val="50000"/>
                <a:alpha val="34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Generic</a:t>
            </a:r>
            <a:r>
              <a:rPr lang="nl-NL" dirty="0"/>
              <a:t> </a:t>
            </a:r>
            <a:r>
              <a:rPr lang="nl-NL" dirty="0" err="1"/>
              <a:t>solver</a:t>
            </a:r>
            <a:r>
              <a:rPr lang="nl-NL" dirty="0"/>
              <a:t> (GPU)</a:t>
            </a:r>
          </a:p>
          <a:p>
            <a:pPr algn="ctr"/>
            <a:r>
              <a:rPr lang="nl-NL" sz="1200" dirty="0"/>
              <a:t>(variables, </a:t>
            </a:r>
            <a:r>
              <a:rPr lang="nl-NL" sz="1200" dirty="0" err="1"/>
              <a:t>expressions</a:t>
            </a:r>
            <a:r>
              <a:rPr lang="nl-NL" sz="12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123E9-4B00-32BE-1C44-F5B8A99500DE}"/>
              </a:ext>
            </a:extLst>
          </p:cNvPr>
          <p:cNvSpPr/>
          <p:nvPr/>
        </p:nvSpPr>
        <p:spPr>
          <a:xfrm>
            <a:off x="8563021" y="3110396"/>
            <a:ext cx="1534604" cy="513471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solidFill>
              <a:schemeClr val="accent1">
                <a:shade val="50000"/>
                <a:alpha val="34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Generic</a:t>
            </a:r>
            <a:r>
              <a:rPr lang="nl-NL" dirty="0"/>
              <a:t> </a:t>
            </a:r>
            <a:r>
              <a:rPr lang="nl-NL" dirty="0" err="1"/>
              <a:t>solver</a:t>
            </a:r>
            <a:endParaRPr lang="nl-NL" dirty="0"/>
          </a:p>
          <a:p>
            <a:pPr algn="ctr"/>
            <a:r>
              <a:rPr lang="nl-NL" sz="1100" dirty="0"/>
              <a:t>(Native C++ / Rust)</a:t>
            </a:r>
          </a:p>
        </p:txBody>
      </p:sp>
    </p:spTree>
    <p:extLst>
      <p:ext uri="{BB962C8B-B14F-4D97-AF65-F5344CB8AC3E}">
        <p14:creationId xmlns:p14="http://schemas.microsoft.com/office/powerpoint/2010/main" val="4124248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65" y="208344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structure advantages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503753" y="1225689"/>
            <a:ext cx="11184493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Adsorption (and other) models </a:t>
            </a:r>
            <a:r>
              <a:rPr lang="en-US" dirty="0"/>
              <a:t>can be </a:t>
            </a:r>
            <a:r>
              <a:rPr lang="en-US" b="1" dirty="0"/>
              <a:t>added by users </a:t>
            </a:r>
            <a:r>
              <a:rPr lang="en-US" dirty="0"/>
              <a:t>without changing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Modular</a:t>
            </a:r>
            <a:r>
              <a:rPr lang="en-US" dirty="0"/>
              <a:t>: parts can be independently exchanged for newer versions (e.g. </a:t>
            </a:r>
            <a:r>
              <a:rPr lang="en-US" b="1" dirty="0"/>
              <a:t>C++ </a:t>
            </a:r>
            <a:r>
              <a:rPr lang="en-US" dirty="0"/>
              <a:t>and</a:t>
            </a:r>
            <a:r>
              <a:rPr lang="en-US" b="1" dirty="0"/>
              <a:t> Java </a:t>
            </a:r>
            <a:r>
              <a:rPr lang="en-US" dirty="0"/>
              <a:t>version of solver available)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Solver code is very</a:t>
            </a:r>
            <a:r>
              <a:rPr lang="en-US" b="1" dirty="0"/>
              <a:t> flexible, small, and fast </a:t>
            </a:r>
            <a:r>
              <a:rPr lang="en-US" dirty="0"/>
              <a:t>(important for coupling with transport codes and </a:t>
            </a:r>
            <a:r>
              <a:rPr lang="en-US" b="1" dirty="0"/>
              <a:t>parallel processing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Coupling</a:t>
            </a:r>
            <a:r>
              <a:rPr lang="en-US" dirty="0"/>
              <a:t> with external codes (transport/python)  is </a:t>
            </a:r>
            <a:r>
              <a:rPr lang="en-US" b="1" dirty="0"/>
              <a:t>simple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chemical models are </a:t>
            </a:r>
            <a:r>
              <a:rPr lang="en-US" b="1" dirty="0"/>
              <a:t>automatically consistent </a:t>
            </a:r>
            <a:r>
              <a:rPr lang="en-US" dirty="0"/>
              <a:t>with transport coupling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Well-suited for developing models that are partly “</a:t>
            </a:r>
            <a:r>
              <a:rPr lang="en-US" b="1" dirty="0"/>
              <a:t>standard geochemistry</a:t>
            </a:r>
            <a:r>
              <a:rPr lang="en-US" dirty="0"/>
              <a:t>” combined with </a:t>
            </a:r>
            <a:r>
              <a:rPr lang="en-US" b="1" dirty="0"/>
              <a:t>specific physical/biological/kinetic  models</a:t>
            </a:r>
            <a:r>
              <a:rPr lang="en-US" dirty="0"/>
              <a:t>. (especially in case of feed-back between physical and chemical part)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98438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43B2-9ED1-FCF9-5D25-FA64788A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PHREEQC example 1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BDCFA0-85C6-A628-ABA3-9C0F88384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12" y="1953419"/>
            <a:ext cx="4981575" cy="4095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9053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43B2-9ED1-FCF9-5D25-FA64788A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PHREEQC example 2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5BE401-1C6C-FEF6-5752-694851FB6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237" y="2072481"/>
            <a:ext cx="6105525" cy="3857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6863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931" y="42974"/>
            <a:ext cx="4851516" cy="798469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Phases 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70447" y="905680"/>
            <a:ext cx="6027709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Phases represent USER DEFINABLE system compartments with local mass balances for </a:t>
            </a:r>
            <a:r>
              <a:rPr lang="en-US" sz="1600" b="1" dirty="0"/>
              <a:t>primary entities</a:t>
            </a:r>
            <a:r>
              <a:rPr lang="en-US" sz="1600" dirty="0"/>
              <a:t> (e.g. tot, diss, liter, ads)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Phases are connected </a:t>
            </a:r>
            <a:r>
              <a:rPr lang="en-US" sz="1600" b="1" dirty="0"/>
              <a:t>hierarchically</a:t>
            </a:r>
            <a:r>
              <a:rPr lang="en-US" sz="1600" dirty="0"/>
              <a:t> via </a:t>
            </a:r>
            <a:r>
              <a:rPr lang="en-US" sz="1600" b="1" dirty="0"/>
              <a:t>conversion</a:t>
            </a:r>
            <a:r>
              <a:rPr lang="en-US" sz="1600" dirty="0"/>
              <a:t>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Parent phases contain sum of mass of all child phases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Example: </a:t>
            </a:r>
            <a:endParaRPr lang="en-US" sz="1600" dirty="0"/>
          </a:p>
          <a:p>
            <a:endParaRPr lang="en-US" sz="1600" b="1" dirty="0"/>
          </a:p>
          <a:p>
            <a:r>
              <a:rPr lang="en-US" sz="1600" b="1" dirty="0" err="1"/>
              <a:t>Ca.tot</a:t>
            </a:r>
            <a:r>
              <a:rPr lang="en-US" sz="1600" b="1" dirty="0"/>
              <a:t> will contain total Ca in system in all forms </a:t>
            </a:r>
            <a:r>
              <a:rPr lang="en-US" sz="1600" b="1" dirty="0" err="1"/>
              <a:t>Ca.liter</a:t>
            </a:r>
            <a:r>
              <a:rPr lang="en-US" sz="1600" b="1" dirty="0"/>
              <a:t> x </a:t>
            </a:r>
            <a:r>
              <a:rPr lang="en-US" sz="1600" b="1" dirty="0" err="1"/>
              <a:t>watervolume</a:t>
            </a:r>
            <a:endParaRPr lang="en-US" sz="1600" b="1" dirty="0"/>
          </a:p>
          <a:p>
            <a:r>
              <a:rPr lang="en-US" sz="1600" b="1" dirty="0" err="1"/>
              <a:t>Ca.liter</a:t>
            </a:r>
            <a:r>
              <a:rPr lang="en-US" sz="1600" b="1" dirty="0"/>
              <a:t> will contain total Ca in mol/l</a:t>
            </a:r>
          </a:p>
          <a:p>
            <a:r>
              <a:rPr lang="en-US" sz="1600" b="1" dirty="0" err="1"/>
              <a:t>Ca.solid</a:t>
            </a:r>
            <a:r>
              <a:rPr lang="en-US" sz="1600" b="1" dirty="0"/>
              <a:t> will contain sum of all solid Ca in mol/l</a:t>
            </a:r>
          </a:p>
          <a:p>
            <a:r>
              <a:rPr lang="en-US" sz="1600" b="1" dirty="0" err="1"/>
              <a:t>Ca.ads</a:t>
            </a:r>
            <a:r>
              <a:rPr lang="en-US" sz="1600" b="1" dirty="0"/>
              <a:t> will contain sum of all adsorbed Ca mol/l</a:t>
            </a:r>
          </a:p>
          <a:p>
            <a:r>
              <a:rPr lang="en-US" sz="1600" b="1" dirty="0"/>
              <a:t>Ca.Site1 will contain all adsorbed Ca to site 1 (fraction) </a:t>
            </a:r>
          </a:p>
          <a:p>
            <a:endParaRPr lang="en-US" sz="1600" dirty="0"/>
          </a:p>
          <a:p>
            <a:r>
              <a:rPr lang="en-US" sz="1600" dirty="0"/>
              <a:t>The phases enable hierarchical mass balances </a:t>
            </a:r>
          </a:p>
          <a:p>
            <a:r>
              <a:rPr lang="en-US" sz="1600" dirty="0"/>
              <a:t>are useful for output, but also for communication with external codes and for creating adsorption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BA1AB-64F9-79A9-1E65-F9B7793C34DB}"/>
              </a:ext>
            </a:extLst>
          </p:cNvPr>
          <p:cNvSpPr/>
          <p:nvPr/>
        </p:nvSpPr>
        <p:spPr>
          <a:xfrm>
            <a:off x="6859437" y="263450"/>
            <a:ext cx="1920816" cy="497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 (mol)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7D3166-E455-7F3D-897F-4B4FD8CA8E6B}"/>
              </a:ext>
            </a:extLst>
          </p:cNvPr>
          <p:cNvSpPr/>
          <p:nvPr/>
        </p:nvSpPr>
        <p:spPr>
          <a:xfrm>
            <a:off x="7868729" y="1675694"/>
            <a:ext cx="2110595" cy="364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liter (mol/l)</a:t>
            </a:r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2E7AEE-9C82-BAB1-57FD-66F06A6F8A56}"/>
              </a:ext>
            </a:extLst>
          </p:cNvPr>
          <p:cNvSpPr/>
          <p:nvPr/>
        </p:nvSpPr>
        <p:spPr>
          <a:xfrm>
            <a:off x="7414404" y="1061757"/>
            <a:ext cx="2478656" cy="41981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watervolume</a:t>
            </a:r>
            <a:r>
              <a:rPr lang="en-US" dirty="0"/>
              <a:t>(l)</a:t>
            </a:r>
            <a:endParaRPr lang="en-GB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3FDCC1-52F1-1F6E-2116-3FABE765F35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16200000" flipH="1">
            <a:off x="8086363" y="494388"/>
            <a:ext cx="300850" cy="833887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1">
            <a:extLst>
              <a:ext uri="{FF2B5EF4-FFF2-40B4-BE49-F238E27FC236}">
                <a16:creationId xmlns:a16="http://schemas.microsoft.com/office/drawing/2014/main" id="{8DAD3BAE-150B-AC14-E363-DBD1AFFDFC09}"/>
              </a:ext>
            </a:extLst>
          </p:cNvPr>
          <p:cNvCxnSpPr>
            <a:cxnSpLocks/>
            <a:stCxn id="9" idx="4"/>
            <a:endCxn id="8" idx="0"/>
          </p:cNvCxnSpPr>
          <p:nvPr/>
        </p:nvCxnSpPr>
        <p:spPr>
          <a:xfrm rot="16200000" flipH="1">
            <a:off x="8691820" y="1443487"/>
            <a:ext cx="194118" cy="270295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A8B1A1B-B9A9-4C57-13D2-D9989BEECA5C}"/>
              </a:ext>
            </a:extLst>
          </p:cNvPr>
          <p:cNvSpPr/>
          <p:nvPr/>
        </p:nvSpPr>
        <p:spPr>
          <a:xfrm>
            <a:off x="9641456" y="2740130"/>
            <a:ext cx="1731034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solid (mol/l)</a:t>
            </a:r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E01A18-0FEB-AE9D-D0F8-B866774BA65C}"/>
              </a:ext>
            </a:extLst>
          </p:cNvPr>
          <p:cNvSpPr/>
          <p:nvPr/>
        </p:nvSpPr>
        <p:spPr>
          <a:xfrm>
            <a:off x="7392835" y="2729475"/>
            <a:ext cx="1731034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solution (mol/l)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EC45A9-FE1F-F6B3-3D3D-2005584273F8}"/>
              </a:ext>
            </a:extLst>
          </p:cNvPr>
          <p:cNvSpPr/>
          <p:nvPr/>
        </p:nvSpPr>
        <p:spPr>
          <a:xfrm>
            <a:off x="8236788" y="2303842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CD28B2F-F154-1E95-72DE-08E238733CD9}"/>
              </a:ext>
            </a:extLst>
          </p:cNvPr>
          <p:cNvSpPr/>
          <p:nvPr/>
        </p:nvSpPr>
        <p:spPr>
          <a:xfrm>
            <a:off x="9664460" y="2252190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94616A-7A07-B2B9-2522-C4872C1C3DDF}"/>
              </a:ext>
            </a:extLst>
          </p:cNvPr>
          <p:cNvSpPr/>
          <p:nvPr/>
        </p:nvSpPr>
        <p:spPr>
          <a:xfrm>
            <a:off x="5766039" y="3818633"/>
            <a:ext cx="1731034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aqueous (mol/l)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F8F956-4D74-A84F-90F1-3E7A05C49609}"/>
              </a:ext>
            </a:extLst>
          </p:cNvPr>
          <p:cNvSpPr/>
          <p:nvPr/>
        </p:nvSpPr>
        <p:spPr>
          <a:xfrm>
            <a:off x="7653065" y="3818633"/>
            <a:ext cx="1529753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colloid(mol/l)</a:t>
            </a:r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FCD076-5D04-73B0-B87D-10159D25116D}"/>
              </a:ext>
            </a:extLst>
          </p:cNvPr>
          <p:cNvSpPr/>
          <p:nvPr/>
        </p:nvSpPr>
        <p:spPr>
          <a:xfrm>
            <a:off x="9432615" y="3847681"/>
            <a:ext cx="1193320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ads(mol/l)</a:t>
            </a:r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959ED6-18DB-7F21-82C1-454ADE4390EF}"/>
              </a:ext>
            </a:extLst>
          </p:cNvPr>
          <p:cNvSpPr/>
          <p:nvPr/>
        </p:nvSpPr>
        <p:spPr>
          <a:xfrm>
            <a:off x="10841229" y="3857774"/>
            <a:ext cx="1268086" cy="40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min(mol/l)</a:t>
            </a:r>
            <a:endParaRPr lang="en-GB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1BCA059-E9DF-EDDF-7C31-14211908A73D}"/>
              </a:ext>
            </a:extLst>
          </p:cNvPr>
          <p:cNvSpPr/>
          <p:nvPr/>
        </p:nvSpPr>
        <p:spPr>
          <a:xfrm>
            <a:off x="9215701" y="4778933"/>
            <a:ext cx="1731034" cy="40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particle(mol/kg)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E33ACC-6F25-775E-9F8C-5FFFEC6A76C1}"/>
              </a:ext>
            </a:extLst>
          </p:cNvPr>
          <p:cNvSpPr/>
          <p:nvPr/>
        </p:nvSpPr>
        <p:spPr>
          <a:xfrm>
            <a:off x="9125308" y="5572177"/>
            <a:ext cx="1765541" cy="404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surface(mol/m2)</a:t>
            </a:r>
            <a:endParaRPr lang="en-GB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B28CA0D-F083-0C71-7ADC-448BF38687D5}"/>
              </a:ext>
            </a:extLst>
          </p:cNvPr>
          <p:cNvSpPr/>
          <p:nvPr/>
        </p:nvSpPr>
        <p:spPr>
          <a:xfrm>
            <a:off x="6797614" y="3468838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0EA906A-9687-66FB-41E1-70B85D17A464}"/>
              </a:ext>
            </a:extLst>
          </p:cNvPr>
          <p:cNvSpPr/>
          <p:nvPr/>
        </p:nvSpPr>
        <p:spPr>
          <a:xfrm>
            <a:off x="8215222" y="3458584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EA00268-EC0C-C34D-FD17-B7C0868790FE}"/>
              </a:ext>
            </a:extLst>
          </p:cNvPr>
          <p:cNvSpPr/>
          <p:nvPr/>
        </p:nvSpPr>
        <p:spPr>
          <a:xfrm>
            <a:off x="9898811" y="3468838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BCC32FA-9ADC-97F4-F21A-28ACC29AC5AC}"/>
              </a:ext>
            </a:extLst>
          </p:cNvPr>
          <p:cNvSpPr/>
          <p:nvPr/>
        </p:nvSpPr>
        <p:spPr>
          <a:xfrm>
            <a:off x="11028135" y="3458584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69FAE9D-DEB0-A772-E248-666CF6B90C53}"/>
              </a:ext>
            </a:extLst>
          </p:cNvPr>
          <p:cNvSpPr/>
          <p:nvPr/>
        </p:nvSpPr>
        <p:spPr>
          <a:xfrm>
            <a:off x="9451674" y="4337716"/>
            <a:ext cx="1055299" cy="2648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kg/l</a:t>
            </a:r>
            <a:endParaRPr lang="en-GB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C7784EA-5841-1A3B-E3E9-0540E1D68010}"/>
              </a:ext>
            </a:extLst>
          </p:cNvPr>
          <p:cNvSpPr/>
          <p:nvPr/>
        </p:nvSpPr>
        <p:spPr>
          <a:xfrm>
            <a:off x="7971527" y="5993530"/>
            <a:ext cx="1364410" cy="30888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mol/m2</a:t>
            </a:r>
            <a:endParaRPr lang="en-GB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2F9A325-41AD-109B-EF60-A45E94D000F8}"/>
              </a:ext>
            </a:extLst>
          </p:cNvPr>
          <p:cNvSpPr/>
          <p:nvPr/>
        </p:nvSpPr>
        <p:spPr>
          <a:xfrm>
            <a:off x="7550986" y="6421188"/>
            <a:ext cx="1765541" cy="404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site1(fraction)</a:t>
            </a:r>
            <a:endParaRPr lang="en-GB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9B30A6-8ABE-3C90-9492-0875C22E2AF7}"/>
              </a:ext>
            </a:extLst>
          </p:cNvPr>
          <p:cNvSpPr/>
          <p:nvPr/>
        </p:nvSpPr>
        <p:spPr>
          <a:xfrm>
            <a:off x="10133162" y="6451329"/>
            <a:ext cx="1765541" cy="404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site2(fraction)</a:t>
            </a:r>
            <a:endParaRPr lang="en-GB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FF0D2C5-4EFD-4076-3BC6-6593D6722805}"/>
              </a:ext>
            </a:extLst>
          </p:cNvPr>
          <p:cNvSpPr/>
          <p:nvPr/>
        </p:nvSpPr>
        <p:spPr>
          <a:xfrm>
            <a:off x="9451674" y="5231641"/>
            <a:ext cx="1193320" cy="27037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m2/kg</a:t>
            </a:r>
            <a:endParaRPr lang="en-GB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8973DE6-B741-BC28-99F5-E4319C335CF4}"/>
              </a:ext>
            </a:extLst>
          </p:cNvPr>
          <p:cNvSpPr/>
          <p:nvPr/>
        </p:nvSpPr>
        <p:spPr>
          <a:xfrm>
            <a:off x="10288417" y="6031189"/>
            <a:ext cx="1364410" cy="30888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mol/m2</a:t>
            </a:r>
            <a:endParaRPr lang="en-GB" dirty="0"/>
          </a:p>
        </p:txBody>
      </p:sp>
      <p:cxnSp>
        <p:nvCxnSpPr>
          <p:cNvPr id="59" name="Straight Connector 11">
            <a:extLst>
              <a:ext uri="{FF2B5EF4-FFF2-40B4-BE49-F238E27FC236}">
                <a16:creationId xmlns:a16="http://schemas.microsoft.com/office/drawing/2014/main" id="{DF2D27D7-CA08-B6F6-AD3E-9680EB40756E}"/>
              </a:ext>
            </a:extLst>
          </p:cNvPr>
          <p:cNvCxnSpPr>
            <a:cxnSpLocks/>
            <a:stCxn id="33" idx="4"/>
            <a:endCxn id="30" idx="0"/>
          </p:cNvCxnSpPr>
          <p:nvPr/>
        </p:nvCxnSpPr>
        <p:spPr>
          <a:xfrm rot="16200000" flipH="1">
            <a:off x="10080775" y="2313932"/>
            <a:ext cx="244234" cy="608162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11">
            <a:extLst>
              <a:ext uri="{FF2B5EF4-FFF2-40B4-BE49-F238E27FC236}">
                <a16:creationId xmlns:a16="http://schemas.microsoft.com/office/drawing/2014/main" id="{17783470-D232-489F-CA5B-DF2A0AC80F96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 rot="16200000" flipH="1">
            <a:off x="9305208" y="1658587"/>
            <a:ext cx="212422" cy="974784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11">
            <a:extLst>
              <a:ext uri="{FF2B5EF4-FFF2-40B4-BE49-F238E27FC236}">
                <a16:creationId xmlns:a16="http://schemas.microsoft.com/office/drawing/2014/main" id="{79A5ACAD-1198-3331-70B8-5D96DCD75C65}"/>
              </a:ext>
            </a:extLst>
          </p:cNvPr>
          <p:cNvCxnSpPr>
            <a:cxnSpLocks/>
            <a:stCxn id="32" idx="4"/>
            <a:endCxn id="31" idx="0"/>
          </p:cNvCxnSpPr>
          <p:nvPr/>
        </p:nvCxnSpPr>
        <p:spPr>
          <a:xfrm rot="5400000">
            <a:off x="8273783" y="2532118"/>
            <a:ext cx="181927" cy="212787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11">
            <a:extLst>
              <a:ext uri="{FF2B5EF4-FFF2-40B4-BE49-F238E27FC236}">
                <a16:creationId xmlns:a16="http://schemas.microsoft.com/office/drawing/2014/main" id="{4F468E83-74B0-D370-1A59-5A64ABF098ED}"/>
              </a:ext>
            </a:extLst>
          </p:cNvPr>
          <p:cNvCxnSpPr>
            <a:cxnSpLocks/>
            <a:stCxn id="8" idx="2"/>
            <a:endCxn id="32" idx="0"/>
          </p:cNvCxnSpPr>
          <p:nvPr/>
        </p:nvCxnSpPr>
        <p:spPr>
          <a:xfrm rot="5400000">
            <a:off x="8565546" y="1945361"/>
            <a:ext cx="264074" cy="452888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11">
            <a:extLst>
              <a:ext uri="{FF2B5EF4-FFF2-40B4-BE49-F238E27FC236}">
                <a16:creationId xmlns:a16="http://schemas.microsoft.com/office/drawing/2014/main" id="{CB70653E-74B5-7F6A-788C-4A0ACEB6AD91}"/>
              </a:ext>
            </a:extLst>
          </p:cNvPr>
          <p:cNvCxnSpPr>
            <a:cxnSpLocks/>
            <a:stCxn id="47" idx="0"/>
            <a:endCxn id="31" idx="2"/>
          </p:cNvCxnSpPr>
          <p:nvPr/>
        </p:nvCxnSpPr>
        <p:spPr>
          <a:xfrm rot="5400000" flipH="1" flipV="1">
            <a:off x="7485386" y="2695873"/>
            <a:ext cx="319544" cy="1226387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11">
            <a:extLst>
              <a:ext uri="{FF2B5EF4-FFF2-40B4-BE49-F238E27FC236}">
                <a16:creationId xmlns:a16="http://schemas.microsoft.com/office/drawing/2014/main" id="{3803FD42-A559-2C6C-5850-902D13ED0CE4}"/>
              </a:ext>
            </a:extLst>
          </p:cNvPr>
          <p:cNvCxnSpPr>
            <a:cxnSpLocks/>
            <a:stCxn id="34" idx="0"/>
            <a:endCxn id="47" idx="4"/>
          </p:cNvCxnSpPr>
          <p:nvPr/>
        </p:nvCxnSpPr>
        <p:spPr>
          <a:xfrm rot="5400000" flipH="1" flipV="1">
            <a:off x="6778716" y="3565385"/>
            <a:ext cx="106089" cy="400409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Straight Connector 11">
            <a:extLst>
              <a:ext uri="{FF2B5EF4-FFF2-40B4-BE49-F238E27FC236}">
                <a16:creationId xmlns:a16="http://schemas.microsoft.com/office/drawing/2014/main" id="{17066CBF-358D-EB32-3D41-CFB5DC62DB86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16200000" flipV="1">
            <a:off x="8199318" y="3208328"/>
            <a:ext cx="309290" cy="191221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11">
            <a:extLst>
              <a:ext uri="{FF2B5EF4-FFF2-40B4-BE49-F238E27FC236}">
                <a16:creationId xmlns:a16="http://schemas.microsoft.com/office/drawing/2014/main" id="{8B581FF4-D8BE-D0DF-2695-FFBDC7084163}"/>
              </a:ext>
            </a:extLst>
          </p:cNvPr>
          <p:cNvCxnSpPr>
            <a:cxnSpLocks/>
            <a:stCxn id="35" idx="0"/>
            <a:endCxn id="48" idx="4"/>
          </p:cNvCxnSpPr>
          <p:nvPr/>
        </p:nvCxnSpPr>
        <p:spPr>
          <a:xfrm rot="5400000" flipH="1" flipV="1">
            <a:off x="8375586" y="3744647"/>
            <a:ext cx="116343" cy="31631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Straight Connector 11">
            <a:extLst>
              <a:ext uri="{FF2B5EF4-FFF2-40B4-BE49-F238E27FC236}">
                <a16:creationId xmlns:a16="http://schemas.microsoft.com/office/drawing/2014/main" id="{A57A26D9-6616-A7E9-317E-FFF7E1CB538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165623" y="3127488"/>
            <a:ext cx="308889" cy="373811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11">
            <a:extLst>
              <a:ext uri="{FF2B5EF4-FFF2-40B4-BE49-F238E27FC236}">
                <a16:creationId xmlns:a16="http://schemas.microsoft.com/office/drawing/2014/main" id="{0030F197-07F0-242B-1BBD-BE458E199C19}"/>
              </a:ext>
            </a:extLst>
          </p:cNvPr>
          <p:cNvCxnSpPr>
            <a:cxnSpLocks/>
            <a:stCxn id="36" idx="0"/>
            <a:endCxn id="49" idx="4"/>
          </p:cNvCxnSpPr>
          <p:nvPr/>
        </p:nvCxnSpPr>
        <p:spPr>
          <a:xfrm rot="5400000" flipH="1" flipV="1">
            <a:off x="10013650" y="3728170"/>
            <a:ext cx="135137" cy="103887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7" name="Straight Connector 11">
            <a:extLst>
              <a:ext uri="{FF2B5EF4-FFF2-40B4-BE49-F238E27FC236}">
                <a16:creationId xmlns:a16="http://schemas.microsoft.com/office/drawing/2014/main" id="{F1A0FD10-3F92-D66C-0FC3-585572123B33}"/>
              </a:ext>
            </a:extLst>
          </p:cNvPr>
          <p:cNvCxnSpPr>
            <a:cxnSpLocks/>
            <a:endCxn id="58" idx="0"/>
          </p:cNvCxnSpPr>
          <p:nvPr/>
        </p:nvCxnSpPr>
        <p:spPr>
          <a:xfrm rot="16200000" flipH="1">
            <a:off x="10834554" y="5895121"/>
            <a:ext cx="192362" cy="79774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11">
            <a:extLst>
              <a:ext uri="{FF2B5EF4-FFF2-40B4-BE49-F238E27FC236}">
                <a16:creationId xmlns:a16="http://schemas.microsoft.com/office/drawing/2014/main" id="{6403D112-DD00-4F6A-2759-974F756902A9}"/>
              </a:ext>
            </a:extLst>
          </p:cNvPr>
          <p:cNvCxnSpPr>
            <a:cxnSpLocks/>
            <a:stCxn id="52" idx="0"/>
            <a:endCxn id="43" idx="1"/>
          </p:cNvCxnSpPr>
          <p:nvPr/>
        </p:nvCxnSpPr>
        <p:spPr>
          <a:xfrm rot="5400000" flipH="1" flipV="1">
            <a:off x="8780023" y="5648245"/>
            <a:ext cx="218995" cy="471576"/>
          </a:xfrm>
          <a:prstGeom prst="curvedConnector2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11">
            <a:extLst>
              <a:ext uri="{FF2B5EF4-FFF2-40B4-BE49-F238E27FC236}">
                <a16:creationId xmlns:a16="http://schemas.microsoft.com/office/drawing/2014/main" id="{F677BBE9-402E-5AA6-D877-831E4BE4E0FC}"/>
              </a:ext>
            </a:extLst>
          </p:cNvPr>
          <p:cNvCxnSpPr>
            <a:cxnSpLocks/>
            <a:stCxn id="43" idx="0"/>
          </p:cNvCxnSpPr>
          <p:nvPr/>
        </p:nvCxnSpPr>
        <p:spPr>
          <a:xfrm rot="5400000" flipH="1" flipV="1">
            <a:off x="10001461" y="5501409"/>
            <a:ext cx="77386" cy="64150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11">
            <a:extLst>
              <a:ext uri="{FF2B5EF4-FFF2-40B4-BE49-F238E27FC236}">
                <a16:creationId xmlns:a16="http://schemas.microsoft.com/office/drawing/2014/main" id="{C87925A8-26E0-3CE5-A5D3-F25BDEAB8132}"/>
              </a:ext>
            </a:extLst>
          </p:cNvPr>
          <p:cNvCxnSpPr>
            <a:cxnSpLocks/>
            <a:stCxn id="57" idx="0"/>
          </p:cNvCxnSpPr>
          <p:nvPr/>
        </p:nvCxnSpPr>
        <p:spPr>
          <a:xfrm rot="5400000" flipH="1" flipV="1">
            <a:off x="10025766" y="5201165"/>
            <a:ext cx="53044" cy="7908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1">
            <a:extLst>
              <a:ext uri="{FF2B5EF4-FFF2-40B4-BE49-F238E27FC236}">
                <a16:creationId xmlns:a16="http://schemas.microsoft.com/office/drawing/2014/main" id="{04460B81-6BF3-896C-6DDB-4A2F563BD022}"/>
              </a:ext>
            </a:extLst>
          </p:cNvPr>
          <p:cNvCxnSpPr>
            <a:cxnSpLocks/>
            <a:stCxn id="42" idx="0"/>
            <a:endCxn id="51" idx="4"/>
          </p:cNvCxnSpPr>
          <p:nvPr/>
        </p:nvCxnSpPr>
        <p:spPr>
          <a:xfrm rot="16200000" flipV="1">
            <a:off x="9942083" y="4639798"/>
            <a:ext cx="176377" cy="101894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1">
            <a:extLst>
              <a:ext uri="{FF2B5EF4-FFF2-40B4-BE49-F238E27FC236}">
                <a16:creationId xmlns:a16="http://schemas.microsoft.com/office/drawing/2014/main" id="{F579D664-1743-9AB3-7095-6F0E58A594F2}"/>
              </a:ext>
            </a:extLst>
          </p:cNvPr>
          <p:cNvCxnSpPr>
            <a:cxnSpLocks/>
            <a:stCxn id="51" idx="0"/>
          </p:cNvCxnSpPr>
          <p:nvPr/>
        </p:nvCxnSpPr>
        <p:spPr>
          <a:xfrm rot="5400000" flipH="1" flipV="1">
            <a:off x="9962759" y="4292399"/>
            <a:ext cx="61882" cy="28752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">
            <a:extLst>
              <a:ext uri="{FF2B5EF4-FFF2-40B4-BE49-F238E27FC236}">
                <a16:creationId xmlns:a16="http://schemas.microsoft.com/office/drawing/2014/main" id="{B4D7B026-4B61-D1B4-DF27-C36B99540D64}"/>
              </a:ext>
            </a:extLst>
          </p:cNvPr>
          <p:cNvCxnSpPr>
            <a:cxnSpLocks/>
            <a:stCxn id="53" idx="0"/>
            <a:endCxn id="52" idx="4"/>
          </p:cNvCxnSpPr>
          <p:nvPr/>
        </p:nvCxnSpPr>
        <p:spPr>
          <a:xfrm rot="5400000" flipH="1" flipV="1">
            <a:off x="8484360" y="6251817"/>
            <a:ext cx="118769" cy="219975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Connector 11">
            <a:extLst>
              <a:ext uri="{FF2B5EF4-FFF2-40B4-BE49-F238E27FC236}">
                <a16:creationId xmlns:a16="http://schemas.microsoft.com/office/drawing/2014/main" id="{011D0B1D-D43A-04AD-B6FC-6E1AFE930C6A}"/>
              </a:ext>
            </a:extLst>
          </p:cNvPr>
          <p:cNvCxnSpPr>
            <a:cxnSpLocks/>
            <a:stCxn id="54" idx="0"/>
            <a:endCxn id="58" idx="4"/>
          </p:cNvCxnSpPr>
          <p:nvPr/>
        </p:nvCxnSpPr>
        <p:spPr>
          <a:xfrm rot="16200000" flipV="1">
            <a:off x="10937653" y="6373048"/>
            <a:ext cx="111251" cy="45311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11">
            <a:extLst>
              <a:ext uri="{FF2B5EF4-FFF2-40B4-BE49-F238E27FC236}">
                <a16:creationId xmlns:a16="http://schemas.microsoft.com/office/drawing/2014/main" id="{131E3CEF-441B-B45F-07D3-36C11B2B8FA7}"/>
              </a:ext>
            </a:extLst>
          </p:cNvPr>
          <p:cNvCxnSpPr>
            <a:cxnSpLocks/>
            <a:stCxn id="50" idx="0"/>
            <a:endCxn id="30" idx="2"/>
          </p:cNvCxnSpPr>
          <p:nvPr/>
        </p:nvCxnSpPr>
        <p:spPr>
          <a:xfrm rot="16200000" flipV="1">
            <a:off x="10735413" y="2931510"/>
            <a:ext cx="298635" cy="755513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11">
            <a:extLst>
              <a:ext uri="{FF2B5EF4-FFF2-40B4-BE49-F238E27FC236}">
                <a16:creationId xmlns:a16="http://schemas.microsoft.com/office/drawing/2014/main" id="{9E017E5F-1D2C-C91A-B356-47884C89EDBB}"/>
              </a:ext>
            </a:extLst>
          </p:cNvPr>
          <p:cNvCxnSpPr>
            <a:cxnSpLocks/>
            <a:stCxn id="41" idx="0"/>
            <a:endCxn id="50" idx="4"/>
          </p:cNvCxnSpPr>
          <p:nvPr/>
        </p:nvCxnSpPr>
        <p:spPr>
          <a:xfrm rot="16200000" flipV="1">
            <a:off x="11291137" y="3673639"/>
            <a:ext cx="155484" cy="212786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091DA35-FD0A-15B1-8D63-D92124A429EF}"/>
              </a:ext>
            </a:extLst>
          </p:cNvPr>
          <p:cNvSpPr/>
          <p:nvPr/>
        </p:nvSpPr>
        <p:spPr>
          <a:xfrm>
            <a:off x="6034351" y="4602556"/>
            <a:ext cx="1731034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diss (mol/l)</a:t>
            </a:r>
            <a:endParaRPr lang="en-GB" dirty="0"/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764DE1FF-FA29-D216-C76D-4253320191A8}"/>
              </a:ext>
            </a:extLst>
          </p:cNvPr>
          <p:cNvCxnSpPr>
            <a:cxnSpLocks/>
            <a:endCxn id="19" idx="4"/>
          </p:cNvCxnSpPr>
          <p:nvPr/>
        </p:nvCxnSpPr>
        <p:spPr>
          <a:xfrm rot="5400000" flipH="1" flipV="1">
            <a:off x="6871218" y="4552003"/>
            <a:ext cx="64894" cy="7594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5A8187A-D23D-4E84-C1B4-00137E4953A1}"/>
              </a:ext>
            </a:extLst>
          </p:cNvPr>
          <p:cNvSpPr/>
          <p:nvPr/>
        </p:nvSpPr>
        <p:spPr>
          <a:xfrm>
            <a:off x="6673111" y="4279647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2111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931" y="42974"/>
            <a:ext cx="4851516" cy="798469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Phases 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70447" y="905680"/>
            <a:ext cx="6027709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Phases represent USER DEFINABLE system compartments with local mass balances for </a:t>
            </a:r>
            <a:r>
              <a:rPr lang="en-US" sz="1600" b="1" dirty="0"/>
              <a:t>primary entities</a:t>
            </a:r>
            <a:r>
              <a:rPr lang="en-US" sz="1600" dirty="0"/>
              <a:t> (e.g. tot, diss, liter, ads)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Phases are connected </a:t>
            </a:r>
            <a:r>
              <a:rPr lang="en-US" sz="1600" b="1" dirty="0"/>
              <a:t>hierarchically</a:t>
            </a:r>
            <a:r>
              <a:rPr lang="en-US" sz="1600" dirty="0"/>
              <a:t> via </a:t>
            </a:r>
            <a:r>
              <a:rPr lang="en-US" sz="1600" b="1" dirty="0"/>
              <a:t>conversion</a:t>
            </a:r>
            <a:r>
              <a:rPr lang="en-US" sz="1600" dirty="0"/>
              <a:t>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Parent phases contain sum of mass of all child phases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Example: </a:t>
            </a:r>
            <a:endParaRPr lang="en-US" sz="1600" dirty="0"/>
          </a:p>
          <a:p>
            <a:endParaRPr lang="en-US" sz="1600" b="1" dirty="0"/>
          </a:p>
          <a:p>
            <a:r>
              <a:rPr lang="en-US" sz="1600" b="1" dirty="0" err="1"/>
              <a:t>Ca.tot</a:t>
            </a:r>
            <a:r>
              <a:rPr lang="en-US" sz="1600" b="1" dirty="0"/>
              <a:t> will contain total Ca in system in all forms </a:t>
            </a:r>
            <a:r>
              <a:rPr lang="en-US" sz="1600" b="1" dirty="0" err="1"/>
              <a:t>Ca.liter</a:t>
            </a:r>
            <a:r>
              <a:rPr lang="en-US" sz="1600" b="1" dirty="0"/>
              <a:t> x </a:t>
            </a:r>
            <a:r>
              <a:rPr lang="en-US" sz="1600" b="1" dirty="0" err="1"/>
              <a:t>watervolume</a:t>
            </a:r>
            <a:endParaRPr lang="en-US" sz="1600" b="1" dirty="0"/>
          </a:p>
          <a:p>
            <a:r>
              <a:rPr lang="en-US" sz="1600" b="1" dirty="0" err="1"/>
              <a:t>Ca.liter</a:t>
            </a:r>
            <a:r>
              <a:rPr lang="en-US" sz="1600" b="1" dirty="0"/>
              <a:t> will contain total Ca in mol/l</a:t>
            </a:r>
          </a:p>
          <a:p>
            <a:r>
              <a:rPr lang="en-US" sz="1600" b="1" dirty="0" err="1"/>
              <a:t>Ca.solid</a:t>
            </a:r>
            <a:r>
              <a:rPr lang="en-US" sz="1600" b="1" dirty="0"/>
              <a:t> will contain sum of all solid Ca in mol/l</a:t>
            </a:r>
          </a:p>
          <a:p>
            <a:r>
              <a:rPr lang="en-US" sz="1600" b="1" dirty="0" err="1"/>
              <a:t>Ca.ads</a:t>
            </a:r>
            <a:r>
              <a:rPr lang="en-US" sz="1600" b="1" dirty="0"/>
              <a:t> will contain sum of all adsorbed Ca mol/l</a:t>
            </a:r>
          </a:p>
          <a:p>
            <a:r>
              <a:rPr lang="en-US" sz="1600" b="1" dirty="0"/>
              <a:t>Ca.Site1 will contain all adsorbed Ca to site 1 (fraction) </a:t>
            </a:r>
          </a:p>
          <a:p>
            <a:endParaRPr lang="en-US" sz="1600" dirty="0"/>
          </a:p>
          <a:p>
            <a:r>
              <a:rPr lang="en-US" sz="1600" dirty="0"/>
              <a:t>The phases enable hierarchical mass balances </a:t>
            </a:r>
          </a:p>
          <a:p>
            <a:r>
              <a:rPr lang="en-US" sz="1600" dirty="0"/>
              <a:t>are useful for output, but also for communication with external codes and for creating adsorption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BA1AB-64F9-79A9-1E65-F9B7793C34DB}"/>
              </a:ext>
            </a:extLst>
          </p:cNvPr>
          <p:cNvSpPr/>
          <p:nvPr/>
        </p:nvSpPr>
        <p:spPr>
          <a:xfrm>
            <a:off x="6859437" y="263450"/>
            <a:ext cx="1920816" cy="497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 (mol)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7D3166-E455-7F3D-897F-4B4FD8CA8E6B}"/>
              </a:ext>
            </a:extLst>
          </p:cNvPr>
          <p:cNvSpPr/>
          <p:nvPr/>
        </p:nvSpPr>
        <p:spPr>
          <a:xfrm>
            <a:off x="7868729" y="1675694"/>
            <a:ext cx="2110595" cy="364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liter (mol/l)</a:t>
            </a:r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2E7AEE-9C82-BAB1-57FD-66F06A6F8A56}"/>
              </a:ext>
            </a:extLst>
          </p:cNvPr>
          <p:cNvSpPr/>
          <p:nvPr/>
        </p:nvSpPr>
        <p:spPr>
          <a:xfrm>
            <a:off x="7414404" y="1061757"/>
            <a:ext cx="2478656" cy="41981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watervolume</a:t>
            </a:r>
            <a:r>
              <a:rPr lang="en-US" dirty="0"/>
              <a:t>(l)</a:t>
            </a:r>
            <a:endParaRPr lang="en-GB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3FDCC1-52F1-1F6E-2116-3FABE765F35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16200000" flipH="1">
            <a:off x="8086363" y="494388"/>
            <a:ext cx="300850" cy="833887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1">
            <a:extLst>
              <a:ext uri="{FF2B5EF4-FFF2-40B4-BE49-F238E27FC236}">
                <a16:creationId xmlns:a16="http://schemas.microsoft.com/office/drawing/2014/main" id="{8DAD3BAE-150B-AC14-E363-DBD1AFFDFC09}"/>
              </a:ext>
            </a:extLst>
          </p:cNvPr>
          <p:cNvCxnSpPr>
            <a:cxnSpLocks/>
            <a:stCxn id="9" idx="4"/>
            <a:endCxn id="8" idx="0"/>
          </p:cNvCxnSpPr>
          <p:nvPr/>
        </p:nvCxnSpPr>
        <p:spPr>
          <a:xfrm rot="16200000" flipH="1">
            <a:off x="8691820" y="1443487"/>
            <a:ext cx="194118" cy="270295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A8B1A1B-B9A9-4C57-13D2-D9989BEECA5C}"/>
              </a:ext>
            </a:extLst>
          </p:cNvPr>
          <p:cNvSpPr/>
          <p:nvPr/>
        </p:nvSpPr>
        <p:spPr>
          <a:xfrm>
            <a:off x="9641456" y="2740130"/>
            <a:ext cx="1731034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solid (mol/l)</a:t>
            </a:r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E01A18-0FEB-AE9D-D0F8-B866774BA65C}"/>
              </a:ext>
            </a:extLst>
          </p:cNvPr>
          <p:cNvSpPr/>
          <p:nvPr/>
        </p:nvSpPr>
        <p:spPr>
          <a:xfrm>
            <a:off x="7392835" y="2729475"/>
            <a:ext cx="1731034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solution (mol/l)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EC45A9-FE1F-F6B3-3D3D-2005584273F8}"/>
              </a:ext>
            </a:extLst>
          </p:cNvPr>
          <p:cNvSpPr/>
          <p:nvPr/>
        </p:nvSpPr>
        <p:spPr>
          <a:xfrm>
            <a:off x="8236788" y="2303842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CD28B2F-F154-1E95-72DE-08E238733CD9}"/>
              </a:ext>
            </a:extLst>
          </p:cNvPr>
          <p:cNvSpPr/>
          <p:nvPr/>
        </p:nvSpPr>
        <p:spPr>
          <a:xfrm>
            <a:off x="9664460" y="2252190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94616A-7A07-B2B9-2522-C4872C1C3DDF}"/>
              </a:ext>
            </a:extLst>
          </p:cNvPr>
          <p:cNvSpPr/>
          <p:nvPr/>
        </p:nvSpPr>
        <p:spPr>
          <a:xfrm>
            <a:off x="5766039" y="3818633"/>
            <a:ext cx="1731034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aqueous (mol/l)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F8F956-4D74-A84F-90F1-3E7A05C49609}"/>
              </a:ext>
            </a:extLst>
          </p:cNvPr>
          <p:cNvSpPr/>
          <p:nvPr/>
        </p:nvSpPr>
        <p:spPr>
          <a:xfrm>
            <a:off x="7653065" y="3818633"/>
            <a:ext cx="1529753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colloid(mol/l)</a:t>
            </a:r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FCD076-5D04-73B0-B87D-10159D25116D}"/>
              </a:ext>
            </a:extLst>
          </p:cNvPr>
          <p:cNvSpPr/>
          <p:nvPr/>
        </p:nvSpPr>
        <p:spPr>
          <a:xfrm>
            <a:off x="9432615" y="3847681"/>
            <a:ext cx="1193320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ads(mol/l)</a:t>
            </a:r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959ED6-18DB-7F21-82C1-454ADE4390EF}"/>
              </a:ext>
            </a:extLst>
          </p:cNvPr>
          <p:cNvSpPr/>
          <p:nvPr/>
        </p:nvSpPr>
        <p:spPr>
          <a:xfrm>
            <a:off x="10841229" y="3857774"/>
            <a:ext cx="1268086" cy="40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min(mol/l)</a:t>
            </a:r>
            <a:endParaRPr lang="en-GB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1BCA059-E9DF-EDDF-7C31-14211908A73D}"/>
              </a:ext>
            </a:extLst>
          </p:cNvPr>
          <p:cNvSpPr/>
          <p:nvPr/>
        </p:nvSpPr>
        <p:spPr>
          <a:xfrm>
            <a:off x="9215701" y="4778933"/>
            <a:ext cx="1731034" cy="40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particle(mol/kg)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E33ACC-6F25-775E-9F8C-5FFFEC6A76C1}"/>
              </a:ext>
            </a:extLst>
          </p:cNvPr>
          <p:cNvSpPr/>
          <p:nvPr/>
        </p:nvSpPr>
        <p:spPr>
          <a:xfrm>
            <a:off x="9125308" y="5572177"/>
            <a:ext cx="1765541" cy="404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surface(mol/m2)</a:t>
            </a:r>
            <a:endParaRPr lang="en-GB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B28CA0D-F083-0C71-7ADC-448BF38687D5}"/>
              </a:ext>
            </a:extLst>
          </p:cNvPr>
          <p:cNvSpPr/>
          <p:nvPr/>
        </p:nvSpPr>
        <p:spPr>
          <a:xfrm>
            <a:off x="6797614" y="3468838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0EA906A-9687-66FB-41E1-70B85D17A464}"/>
              </a:ext>
            </a:extLst>
          </p:cNvPr>
          <p:cNvSpPr/>
          <p:nvPr/>
        </p:nvSpPr>
        <p:spPr>
          <a:xfrm>
            <a:off x="8215222" y="3458584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EA00268-EC0C-C34D-FD17-B7C0868790FE}"/>
              </a:ext>
            </a:extLst>
          </p:cNvPr>
          <p:cNvSpPr/>
          <p:nvPr/>
        </p:nvSpPr>
        <p:spPr>
          <a:xfrm>
            <a:off x="9898811" y="3468838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BCC32FA-9ADC-97F4-F21A-28ACC29AC5AC}"/>
              </a:ext>
            </a:extLst>
          </p:cNvPr>
          <p:cNvSpPr/>
          <p:nvPr/>
        </p:nvSpPr>
        <p:spPr>
          <a:xfrm>
            <a:off x="11028135" y="3458584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69FAE9D-DEB0-A772-E248-666CF6B90C53}"/>
              </a:ext>
            </a:extLst>
          </p:cNvPr>
          <p:cNvSpPr/>
          <p:nvPr/>
        </p:nvSpPr>
        <p:spPr>
          <a:xfrm>
            <a:off x="9451674" y="4337716"/>
            <a:ext cx="1055299" cy="2648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kg/l</a:t>
            </a:r>
            <a:endParaRPr lang="en-GB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C7784EA-5841-1A3B-E3E9-0540E1D68010}"/>
              </a:ext>
            </a:extLst>
          </p:cNvPr>
          <p:cNvSpPr/>
          <p:nvPr/>
        </p:nvSpPr>
        <p:spPr>
          <a:xfrm>
            <a:off x="7971527" y="5993530"/>
            <a:ext cx="1364410" cy="30888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mol/m2</a:t>
            </a:r>
            <a:endParaRPr lang="en-GB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2F9A325-41AD-109B-EF60-A45E94D000F8}"/>
              </a:ext>
            </a:extLst>
          </p:cNvPr>
          <p:cNvSpPr/>
          <p:nvPr/>
        </p:nvSpPr>
        <p:spPr>
          <a:xfrm>
            <a:off x="7550986" y="6421188"/>
            <a:ext cx="1765541" cy="404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site1(fraction)</a:t>
            </a:r>
            <a:endParaRPr lang="en-GB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9B30A6-8ABE-3C90-9492-0875C22E2AF7}"/>
              </a:ext>
            </a:extLst>
          </p:cNvPr>
          <p:cNvSpPr/>
          <p:nvPr/>
        </p:nvSpPr>
        <p:spPr>
          <a:xfrm>
            <a:off x="10133162" y="6451329"/>
            <a:ext cx="1765541" cy="404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site2(fraction)</a:t>
            </a:r>
            <a:endParaRPr lang="en-GB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FF0D2C5-4EFD-4076-3BC6-6593D6722805}"/>
              </a:ext>
            </a:extLst>
          </p:cNvPr>
          <p:cNvSpPr/>
          <p:nvPr/>
        </p:nvSpPr>
        <p:spPr>
          <a:xfrm>
            <a:off x="9451674" y="5231641"/>
            <a:ext cx="1193320" cy="27037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m2/kg</a:t>
            </a:r>
            <a:endParaRPr lang="en-GB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8973DE6-B741-BC28-99F5-E4319C335CF4}"/>
              </a:ext>
            </a:extLst>
          </p:cNvPr>
          <p:cNvSpPr/>
          <p:nvPr/>
        </p:nvSpPr>
        <p:spPr>
          <a:xfrm>
            <a:off x="10288417" y="6031189"/>
            <a:ext cx="1364410" cy="30888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mol/m2</a:t>
            </a:r>
            <a:endParaRPr lang="en-GB" dirty="0"/>
          </a:p>
        </p:txBody>
      </p:sp>
      <p:cxnSp>
        <p:nvCxnSpPr>
          <p:cNvPr id="59" name="Straight Connector 11">
            <a:extLst>
              <a:ext uri="{FF2B5EF4-FFF2-40B4-BE49-F238E27FC236}">
                <a16:creationId xmlns:a16="http://schemas.microsoft.com/office/drawing/2014/main" id="{DF2D27D7-CA08-B6F6-AD3E-9680EB40756E}"/>
              </a:ext>
            </a:extLst>
          </p:cNvPr>
          <p:cNvCxnSpPr>
            <a:cxnSpLocks/>
            <a:stCxn id="33" idx="4"/>
            <a:endCxn id="30" idx="0"/>
          </p:cNvCxnSpPr>
          <p:nvPr/>
        </p:nvCxnSpPr>
        <p:spPr>
          <a:xfrm rot="16200000" flipH="1">
            <a:off x="10080775" y="2313932"/>
            <a:ext cx="244234" cy="608162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11">
            <a:extLst>
              <a:ext uri="{FF2B5EF4-FFF2-40B4-BE49-F238E27FC236}">
                <a16:creationId xmlns:a16="http://schemas.microsoft.com/office/drawing/2014/main" id="{17783470-D232-489F-CA5B-DF2A0AC80F96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 rot="16200000" flipH="1">
            <a:off x="9305208" y="1658587"/>
            <a:ext cx="212422" cy="974784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11">
            <a:extLst>
              <a:ext uri="{FF2B5EF4-FFF2-40B4-BE49-F238E27FC236}">
                <a16:creationId xmlns:a16="http://schemas.microsoft.com/office/drawing/2014/main" id="{79A5ACAD-1198-3331-70B8-5D96DCD75C65}"/>
              </a:ext>
            </a:extLst>
          </p:cNvPr>
          <p:cNvCxnSpPr>
            <a:cxnSpLocks/>
            <a:stCxn id="32" idx="4"/>
            <a:endCxn id="31" idx="0"/>
          </p:cNvCxnSpPr>
          <p:nvPr/>
        </p:nvCxnSpPr>
        <p:spPr>
          <a:xfrm rot="5400000">
            <a:off x="8273783" y="2532118"/>
            <a:ext cx="181927" cy="212787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11">
            <a:extLst>
              <a:ext uri="{FF2B5EF4-FFF2-40B4-BE49-F238E27FC236}">
                <a16:creationId xmlns:a16="http://schemas.microsoft.com/office/drawing/2014/main" id="{4F468E83-74B0-D370-1A59-5A64ABF098ED}"/>
              </a:ext>
            </a:extLst>
          </p:cNvPr>
          <p:cNvCxnSpPr>
            <a:cxnSpLocks/>
            <a:stCxn id="8" idx="2"/>
            <a:endCxn id="32" idx="0"/>
          </p:cNvCxnSpPr>
          <p:nvPr/>
        </p:nvCxnSpPr>
        <p:spPr>
          <a:xfrm rot="5400000">
            <a:off x="8565546" y="1945361"/>
            <a:ext cx="264074" cy="452888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11">
            <a:extLst>
              <a:ext uri="{FF2B5EF4-FFF2-40B4-BE49-F238E27FC236}">
                <a16:creationId xmlns:a16="http://schemas.microsoft.com/office/drawing/2014/main" id="{CB70653E-74B5-7F6A-788C-4A0ACEB6AD91}"/>
              </a:ext>
            </a:extLst>
          </p:cNvPr>
          <p:cNvCxnSpPr>
            <a:cxnSpLocks/>
            <a:stCxn id="47" idx="0"/>
            <a:endCxn id="31" idx="2"/>
          </p:cNvCxnSpPr>
          <p:nvPr/>
        </p:nvCxnSpPr>
        <p:spPr>
          <a:xfrm rot="5400000" flipH="1" flipV="1">
            <a:off x="7485386" y="2695873"/>
            <a:ext cx="319544" cy="1226387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11">
            <a:extLst>
              <a:ext uri="{FF2B5EF4-FFF2-40B4-BE49-F238E27FC236}">
                <a16:creationId xmlns:a16="http://schemas.microsoft.com/office/drawing/2014/main" id="{3803FD42-A559-2C6C-5850-902D13ED0CE4}"/>
              </a:ext>
            </a:extLst>
          </p:cNvPr>
          <p:cNvCxnSpPr>
            <a:cxnSpLocks/>
            <a:stCxn id="34" idx="0"/>
            <a:endCxn id="47" idx="4"/>
          </p:cNvCxnSpPr>
          <p:nvPr/>
        </p:nvCxnSpPr>
        <p:spPr>
          <a:xfrm rot="5400000" flipH="1" flipV="1">
            <a:off x="6778716" y="3565385"/>
            <a:ext cx="106089" cy="400409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Straight Connector 11">
            <a:extLst>
              <a:ext uri="{FF2B5EF4-FFF2-40B4-BE49-F238E27FC236}">
                <a16:creationId xmlns:a16="http://schemas.microsoft.com/office/drawing/2014/main" id="{17066CBF-358D-EB32-3D41-CFB5DC62DB86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16200000" flipV="1">
            <a:off x="8199318" y="3208328"/>
            <a:ext cx="309290" cy="191221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11">
            <a:extLst>
              <a:ext uri="{FF2B5EF4-FFF2-40B4-BE49-F238E27FC236}">
                <a16:creationId xmlns:a16="http://schemas.microsoft.com/office/drawing/2014/main" id="{8B581FF4-D8BE-D0DF-2695-FFBDC7084163}"/>
              </a:ext>
            </a:extLst>
          </p:cNvPr>
          <p:cNvCxnSpPr>
            <a:cxnSpLocks/>
            <a:stCxn id="35" idx="0"/>
            <a:endCxn id="48" idx="4"/>
          </p:cNvCxnSpPr>
          <p:nvPr/>
        </p:nvCxnSpPr>
        <p:spPr>
          <a:xfrm rot="5400000" flipH="1" flipV="1">
            <a:off x="8375586" y="3744647"/>
            <a:ext cx="116343" cy="31631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Straight Connector 11">
            <a:extLst>
              <a:ext uri="{FF2B5EF4-FFF2-40B4-BE49-F238E27FC236}">
                <a16:creationId xmlns:a16="http://schemas.microsoft.com/office/drawing/2014/main" id="{A57A26D9-6616-A7E9-317E-FFF7E1CB538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165623" y="3127488"/>
            <a:ext cx="308889" cy="373811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11">
            <a:extLst>
              <a:ext uri="{FF2B5EF4-FFF2-40B4-BE49-F238E27FC236}">
                <a16:creationId xmlns:a16="http://schemas.microsoft.com/office/drawing/2014/main" id="{0030F197-07F0-242B-1BBD-BE458E199C19}"/>
              </a:ext>
            </a:extLst>
          </p:cNvPr>
          <p:cNvCxnSpPr>
            <a:cxnSpLocks/>
            <a:stCxn id="36" idx="0"/>
            <a:endCxn id="49" idx="4"/>
          </p:cNvCxnSpPr>
          <p:nvPr/>
        </p:nvCxnSpPr>
        <p:spPr>
          <a:xfrm rot="5400000" flipH="1" flipV="1">
            <a:off x="10013650" y="3728170"/>
            <a:ext cx="135137" cy="103887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7" name="Straight Connector 11">
            <a:extLst>
              <a:ext uri="{FF2B5EF4-FFF2-40B4-BE49-F238E27FC236}">
                <a16:creationId xmlns:a16="http://schemas.microsoft.com/office/drawing/2014/main" id="{F1A0FD10-3F92-D66C-0FC3-585572123B33}"/>
              </a:ext>
            </a:extLst>
          </p:cNvPr>
          <p:cNvCxnSpPr>
            <a:cxnSpLocks/>
            <a:endCxn id="58" idx="0"/>
          </p:cNvCxnSpPr>
          <p:nvPr/>
        </p:nvCxnSpPr>
        <p:spPr>
          <a:xfrm rot="16200000" flipH="1">
            <a:off x="10834554" y="5895121"/>
            <a:ext cx="192362" cy="79774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11">
            <a:extLst>
              <a:ext uri="{FF2B5EF4-FFF2-40B4-BE49-F238E27FC236}">
                <a16:creationId xmlns:a16="http://schemas.microsoft.com/office/drawing/2014/main" id="{6403D112-DD00-4F6A-2759-974F756902A9}"/>
              </a:ext>
            </a:extLst>
          </p:cNvPr>
          <p:cNvCxnSpPr>
            <a:cxnSpLocks/>
            <a:stCxn id="52" idx="0"/>
            <a:endCxn id="43" idx="1"/>
          </p:cNvCxnSpPr>
          <p:nvPr/>
        </p:nvCxnSpPr>
        <p:spPr>
          <a:xfrm rot="5400000" flipH="1" flipV="1">
            <a:off x="8780023" y="5648245"/>
            <a:ext cx="218995" cy="471576"/>
          </a:xfrm>
          <a:prstGeom prst="curvedConnector2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11">
            <a:extLst>
              <a:ext uri="{FF2B5EF4-FFF2-40B4-BE49-F238E27FC236}">
                <a16:creationId xmlns:a16="http://schemas.microsoft.com/office/drawing/2014/main" id="{F677BBE9-402E-5AA6-D877-831E4BE4E0FC}"/>
              </a:ext>
            </a:extLst>
          </p:cNvPr>
          <p:cNvCxnSpPr>
            <a:cxnSpLocks/>
            <a:stCxn id="43" idx="0"/>
          </p:cNvCxnSpPr>
          <p:nvPr/>
        </p:nvCxnSpPr>
        <p:spPr>
          <a:xfrm rot="5400000" flipH="1" flipV="1">
            <a:off x="10001461" y="5501409"/>
            <a:ext cx="77386" cy="64150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11">
            <a:extLst>
              <a:ext uri="{FF2B5EF4-FFF2-40B4-BE49-F238E27FC236}">
                <a16:creationId xmlns:a16="http://schemas.microsoft.com/office/drawing/2014/main" id="{C87925A8-26E0-3CE5-A5D3-F25BDEAB8132}"/>
              </a:ext>
            </a:extLst>
          </p:cNvPr>
          <p:cNvCxnSpPr>
            <a:cxnSpLocks/>
            <a:stCxn id="57" idx="0"/>
          </p:cNvCxnSpPr>
          <p:nvPr/>
        </p:nvCxnSpPr>
        <p:spPr>
          <a:xfrm rot="5400000" flipH="1" flipV="1">
            <a:off x="10025766" y="5201165"/>
            <a:ext cx="53044" cy="7908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1">
            <a:extLst>
              <a:ext uri="{FF2B5EF4-FFF2-40B4-BE49-F238E27FC236}">
                <a16:creationId xmlns:a16="http://schemas.microsoft.com/office/drawing/2014/main" id="{04460B81-6BF3-896C-6DDB-4A2F563BD022}"/>
              </a:ext>
            </a:extLst>
          </p:cNvPr>
          <p:cNvCxnSpPr>
            <a:cxnSpLocks/>
            <a:stCxn id="42" idx="0"/>
            <a:endCxn id="51" idx="4"/>
          </p:cNvCxnSpPr>
          <p:nvPr/>
        </p:nvCxnSpPr>
        <p:spPr>
          <a:xfrm rot="16200000" flipV="1">
            <a:off x="9942083" y="4639798"/>
            <a:ext cx="176377" cy="101894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1">
            <a:extLst>
              <a:ext uri="{FF2B5EF4-FFF2-40B4-BE49-F238E27FC236}">
                <a16:creationId xmlns:a16="http://schemas.microsoft.com/office/drawing/2014/main" id="{F579D664-1743-9AB3-7095-6F0E58A594F2}"/>
              </a:ext>
            </a:extLst>
          </p:cNvPr>
          <p:cNvCxnSpPr>
            <a:cxnSpLocks/>
            <a:stCxn id="51" idx="0"/>
          </p:cNvCxnSpPr>
          <p:nvPr/>
        </p:nvCxnSpPr>
        <p:spPr>
          <a:xfrm rot="5400000" flipH="1" flipV="1">
            <a:off x="9962759" y="4292399"/>
            <a:ext cx="61882" cy="28752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">
            <a:extLst>
              <a:ext uri="{FF2B5EF4-FFF2-40B4-BE49-F238E27FC236}">
                <a16:creationId xmlns:a16="http://schemas.microsoft.com/office/drawing/2014/main" id="{B4D7B026-4B61-D1B4-DF27-C36B99540D64}"/>
              </a:ext>
            </a:extLst>
          </p:cNvPr>
          <p:cNvCxnSpPr>
            <a:cxnSpLocks/>
            <a:stCxn id="53" idx="0"/>
            <a:endCxn id="52" idx="4"/>
          </p:cNvCxnSpPr>
          <p:nvPr/>
        </p:nvCxnSpPr>
        <p:spPr>
          <a:xfrm rot="5400000" flipH="1" flipV="1">
            <a:off x="8484360" y="6251817"/>
            <a:ext cx="118769" cy="219975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Connector 11">
            <a:extLst>
              <a:ext uri="{FF2B5EF4-FFF2-40B4-BE49-F238E27FC236}">
                <a16:creationId xmlns:a16="http://schemas.microsoft.com/office/drawing/2014/main" id="{011D0B1D-D43A-04AD-B6FC-6E1AFE930C6A}"/>
              </a:ext>
            </a:extLst>
          </p:cNvPr>
          <p:cNvCxnSpPr>
            <a:cxnSpLocks/>
            <a:stCxn id="54" idx="0"/>
            <a:endCxn id="58" idx="4"/>
          </p:cNvCxnSpPr>
          <p:nvPr/>
        </p:nvCxnSpPr>
        <p:spPr>
          <a:xfrm rot="16200000" flipV="1">
            <a:off x="10937653" y="6373048"/>
            <a:ext cx="111251" cy="45311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11">
            <a:extLst>
              <a:ext uri="{FF2B5EF4-FFF2-40B4-BE49-F238E27FC236}">
                <a16:creationId xmlns:a16="http://schemas.microsoft.com/office/drawing/2014/main" id="{131E3CEF-441B-B45F-07D3-36C11B2B8FA7}"/>
              </a:ext>
            </a:extLst>
          </p:cNvPr>
          <p:cNvCxnSpPr>
            <a:cxnSpLocks/>
            <a:stCxn id="50" idx="0"/>
            <a:endCxn id="30" idx="2"/>
          </p:cNvCxnSpPr>
          <p:nvPr/>
        </p:nvCxnSpPr>
        <p:spPr>
          <a:xfrm rot="16200000" flipV="1">
            <a:off x="10735413" y="2931510"/>
            <a:ext cx="298635" cy="755513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11">
            <a:extLst>
              <a:ext uri="{FF2B5EF4-FFF2-40B4-BE49-F238E27FC236}">
                <a16:creationId xmlns:a16="http://schemas.microsoft.com/office/drawing/2014/main" id="{9E017E5F-1D2C-C91A-B356-47884C89EDBB}"/>
              </a:ext>
            </a:extLst>
          </p:cNvPr>
          <p:cNvCxnSpPr>
            <a:cxnSpLocks/>
            <a:stCxn id="41" idx="0"/>
            <a:endCxn id="50" idx="4"/>
          </p:cNvCxnSpPr>
          <p:nvPr/>
        </p:nvCxnSpPr>
        <p:spPr>
          <a:xfrm rot="16200000" flipV="1">
            <a:off x="11291137" y="3673639"/>
            <a:ext cx="155484" cy="212786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091DA35-FD0A-15B1-8D63-D92124A429EF}"/>
              </a:ext>
            </a:extLst>
          </p:cNvPr>
          <p:cNvSpPr/>
          <p:nvPr/>
        </p:nvSpPr>
        <p:spPr>
          <a:xfrm>
            <a:off x="6034351" y="4602556"/>
            <a:ext cx="1731034" cy="419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diss (mol/l)</a:t>
            </a:r>
            <a:endParaRPr lang="en-GB" dirty="0"/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764DE1FF-FA29-D216-C76D-4253320191A8}"/>
              </a:ext>
            </a:extLst>
          </p:cNvPr>
          <p:cNvCxnSpPr>
            <a:cxnSpLocks/>
            <a:endCxn id="19" idx="4"/>
          </p:cNvCxnSpPr>
          <p:nvPr/>
        </p:nvCxnSpPr>
        <p:spPr>
          <a:xfrm rot="5400000" flipH="1" flipV="1">
            <a:off x="6871218" y="4552003"/>
            <a:ext cx="64894" cy="7594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5A8187A-D23D-4E84-C1B4-00137E4953A1}"/>
              </a:ext>
            </a:extLst>
          </p:cNvPr>
          <p:cNvSpPr/>
          <p:nvPr/>
        </p:nvSpPr>
        <p:spPr>
          <a:xfrm>
            <a:off x="6673111" y="4279647"/>
            <a:ext cx="468702" cy="24370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81DC44-B587-51DC-369A-3BE02331FDF8}"/>
              </a:ext>
            </a:extLst>
          </p:cNvPr>
          <p:cNvSpPr/>
          <p:nvPr/>
        </p:nvSpPr>
        <p:spPr>
          <a:xfrm>
            <a:off x="6257386" y="5494045"/>
            <a:ext cx="1765541" cy="404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surface(mol/kg)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811280-5556-E005-B434-2125F82CD523}"/>
              </a:ext>
            </a:extLst>
          </p:cNvPr>
          <p:cNvSpPr/>
          <p:nvPr/>
        </p:nvSpPr>
        <p:spPr>
          <a:xfrm>
            <a:off x="5209986" y="6022330"/>
            <a:ext cx="1364410" cy="30888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mol/kg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CCEF1F-E519-1920-A324-D86F63BDE00A}"/>
              </a:ext>
            </a:extLst>
          </p:cNvPr>
          <p:cNvSpPr/>
          <p:nvPr/>
        </p:nvSpPr>
        <p:spPr>
          <a:xfrm>
            <a:off x="4979954" y="6453285"/>
            <a:ext cx="1765541" cy="404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site1(fraction)</a:t>
            </a:r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4144F4-E461-587D-6180-86F490608529}"/>
              </a:ext>
            </a:extLst>
          </p:cNvPr>
          <p:cNvSpPr/>
          <p:nvPr/>
        </p:nvSpPr>
        <p:spPr>
          <a:xfrm>
            <a:off x="6824407" y="5150631"/>
            <a:ext cx="1193320" cy="27037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kg/kg</a:t>
            </a:r>
            <a:endParaRPr lang="en-GB" dirty="0"/>
          </a:p>
        </p:txBody>
      </p:sp>
      <p:cxnSp>
        <p:nvCxnSpPr>
          <p:cNvPr id="21" name="Straight Connector 11">
            <a:extLst>
              <a:ext uri="{FF2B5EF4-FFF2-40B4-BE49-F238E27FC236}">
                <a16:creationId xmlns:a16="http://schemas.microsoft.com/office/drawing/2014/main" id="{60207BF8-C45D-2785-1F1B-344269B247BE}"/>
              </a:ext>
            </a:extLst>
          </p:cNvPr>
          <p:cNvCxnSpPr>
            <a:cxnSpLocks/>
            <a:stCxn id="5" idx="0"/>
            <a:endCxn id="4" idx="1"/>
          </p:cNvCxnSpPr>
          <p:nvPr/>
        </p:nvCxnSpPr>
        <p:spPr>
          <a:xfrm rot="5400000" flipH="1" flipV="1">
            <a:off x="5911825" y="5676770"/>
            <a:ext cx="325927" cy="365195"/>
          </a:xfrm>
          <a:prstGeom prst="curvedConnector2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11">
            <a:extLst>
              <a:ext uri="{FF2B5EF4-FFF2-40B4-BE49-F238E27FC236}">
                <a16:creationId xmlns:a16="http://schemas.microsoft.com/office/drawing/2014/main" id="{E502C208-C55C-4A19-DA51-913073A13A5A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7133539" y="5423277"/>
            <a:ext cx="77386" cy="64150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11">
            <a:extLst>
              <a:ext uri="{FF2B5EF4-FFF2-40B4-BE49-F238E27FC236}">
                <a16:creationId xmlns:a16="http://schemas.microsoft.com/office/drawing/2014/main" id="{894D80A2-CB31-4669-B041-AF865C969B19}"/>
              </a:ext>
            </a:extLst>
          </p:cNvPr>
          <p:cNvCxnSpPr>
            <a:cxnSpLocks/>
            <a:stCxn id="15" idx="0"/>
            <a:endCxn id="42" idx="1"/>
          </p:cNvCxnSpPr>
          <p:nvPr/>
        </p:nvCxnSpPr>
        <p:spPr>
          <a:xfrm rot="5400000" flipH="1" flipV="1">
            <a:off x="8233714" y="4168644"/>
            <a:ext cx="169341" cy="1794634"/>
          </a:xfrm>
          <a:prstGeom prst="curvedConnector2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11">
            <a:extLst>
              <a:ext uri="{FF2B5EF4-FFF2-40B4-BE49-F238E27FC236}">
                <a16:creationId xmlns:a16="http://schemas.microsoft.com/office/drawing/2014/main" id="{948253DB-AB4C-3292-00A7-18421D870D53}"/>
              </a:ext>
            </a:extLst>
          </p:cNvPr>
          <p:cNvCxnSpPr>
            <a:cxnSpLocks/>
            <a:stCxn id="11" idx="0"/>
            <a:endCxn id="5" idx="4"/>
          </p:cNvCxnSpPr>
          <p:nvPr/>
        </p:nvCxnSpPr>
        <p:spPr>
          <a:xfrm rot="5400000" flipH="1" flipV="1">
            <a:off x="5816425" y="6377519"/>
            <a:ext cx="122066" cy="29466"/>
          </a:xfrm>
          <a:prstGeom prst="curvedConnector3">
            <a:avLst>
              <a:gd name="adj1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48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931" y="42974"/>
            <a:ext cx="4851516" cy="798469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Phases 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70447" y="905680"/>
            <a:ext cx="6027709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Phases represent system compartments with local mass balances for </a:t>
            </a:r>
            <a:r>
              <a:rPr lang="en-US" sz="1600" b="1" dirty="0"/>
              <a:t>primary entities</a:t>
            </a:r>
            <a:r>
              <a:rPr lang="en-US" sz="1600" dirty="0"/>
              <a:t> (e.g. tot, diss, liter, ads)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Phases are connected </a:t>
            </a:r>
            <a:r>
              <a:rPr lang="en-US" sz="1600" b="1" dirty="0"/>
              <a:t>hierarchically</a:t>
            </a:r>
            <a:r>
              <a:rPr lang="en-US" sz="1600" dirty="0"/>
              <a:t> via </a:t>
            </a:r>
            <a:r>
              <a:rPr lang="en-US" sz="1600" b="1" dirty="0"/>
              <a:t>conversion</a:t>
            </a:r>
            <a:r>
              <a:rPr lang="en-US" sz="1600" dirty="0"/>
              <a:t>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Parent phases contain sum of mass of all child phases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Example: </a:t>
            </a:r>
            <a:endParaRPr lang="en-US" sz="1600" dirty="0"/>
          </a:p>
          <a:p>
            <a:endParaRPr lang="en-US" sz="1600" b="1" dirty="0"/>
          </a:p>
          <a:p>
            <a:r>
              <a:rPr lang="en-US" sz="1600" b="1" dirty="0" err="1"/>
              <a:t>Ca.tot</a:t>
            </a:r>
            <a:r>
              <a:rPr lang="en-US" sz="1600" b="1" dirty="0"/>
              <a:t> will contain total Ca in system in all forms </a:t>
            </a:r>
            <a:r>
              <a:rPr lang="en-US" sz="1600" b="1" dirty="0" err="1"/>
              <a:t>Ca.liter</a:t>
            </a:r>
            <a:r>
              <a:rPr lang="en-US" sz="1600" b="1" dirty="0"/>
              <a:t> x </a:t>
            </a:r>
            <a:r>
              <a:rPr lang="en-US" sz="1600" b="1" dirty="0" err="1"/>
              <a:t>watervolume</a:t>
            </a:r>
            <a:endParaRPr lang="en-US" sz="1600" b="1" dirty="0"/>
          </a:p>
          <a:p>
            <a:r>
              <a:rPr lang="en-US" sz="1600" b="1" dirty="0" err="1"/>
              <a:t>Ca.liter</a:t>
            </a:r>
            <a:r>
              <a:rPr lang="en-US" sz="1600" b="1" dirty="0"/>
              <a:t> will contain total Ca in mol/l</a:t>
            </a:r>
          </a:p>
          <a:p>
            <a:r>
              <a:rPr lang="en-US" sz="1600" b="1" dirty="0" err="1"/>
              <a:t>Ca.solid</a:t>
            </a:r>
            <a:r>
              <a:rPr lang="en-US" sz="1600" b="1" dirty="0"/>
              <a:t> will contain sum of all solid Ca in mol/l</a:t>
            </a:r>
          </a:p>
          <a:p>
            <a:r>
              <a:rPr lang="en-US" sz="1600" b="1" dirty="0" err="1"/>
              <a:t>Ca.ads</a:t>
            </a:r>
            <a:r>
              <a:rPr lang="en-US" sz="1600" b="1" dirty="0"/>
              <a:t> will contain sum of all adsorbed Ca mol/l</a:t>
            </a:r>
          </a:p>
          <a:p>
            <a:r>
              <a:rPr lang="en-US" sz="1600" b="1" dirty="0"/>
              <a:t>Ca.Site1 will contain all adsorbed Ca to site 1 (fraction) </a:t>
            </a:r>
          </a:p>
          <a:p>
            <a:endParaRPr lang="en-US" sz="1600" dirty="0"/>
          </a:p>
          <a:p>
            <a:r>
              <a:rPr lang="en-US" sz="1600" dirty="0"/>
              <a:t>The phases enable hierarchical mass balances </a:t>
            </a:r>
          </a:p>
          <a:p>
            <a:r>
              <a:rPr lang="en-US" sz="1600" dirty="0"/>
              <a:t>are useful for output, but also for communication with external codes and for creating adsorption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72A511-D958-98EC-FA02-F7A7ABA5A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872" y="520540"/>
            <a:ext cx="5621650" cy="51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32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931" y="42974"/>
            <a:ext cx="4851516" cy="798469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Phases 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255225" y="917355"/>
            <a:ext cx="579768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Phases are user definable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@phase(tot)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@phase(kg)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@phase(liter)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@link_phase(liter, tot, "</a:t>
            </a:r>
            <a:r>
              <a:rPr lang="en-US" sz="1200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watervolume</a:t>
            </a:r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")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@link_phase(liter, kg, "1/SL")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@phase(solution)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@link_phase(solution, liter, "1")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@phase(diss)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@link_phase(diss, solution, "1")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@phase(colloid)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@link_phase(colloid, solution, "1")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@phase(DHA_part)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@link_phase(DHA_part, colloid, "1")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@phase(DFA_part)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@link_phase(DFA_part, colloid, "1")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@phase(solid)</a:t>
            </a:r>
          </a:p>
          <a:p>
            <a:r>
              <a:rPr lang="en-US" sz="1200" dirty="0">
                <a:latin typeface="72 Monospace" panose="020B0509030603020204" pitchFamily="49" charset="0"/>
                <a:cs typeface="72 Monospace" panose="020B0509030603020204" pitchFamily="49" charset="0"/>
              </a:rPr>
              <a:t>@link_phase(solid, liter, "1")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D39293-E84E-D662-1A19-C515A94AA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091" y="917355"/>
            <a:ext cx="5621650" cy="51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146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931" y="42974"/>
            <a:ext cx="4851516" cy="798469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Phases 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82685" y="1337553"/>
            <a:ext cx="579768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phases enable hierarchical mass balances </a:t>
            </a:r>
          </a:p>
          <a:p>
            <a:endParaRPr lang="en-US" dirty="0"/>
          </a:p>
          <a:p>
            <a:r>
              <a:rPr lang="en-US" dirty="0"/>
              <a:t>Useful for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Input/Output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communication with external (transport)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creating adsorption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D39293-E84E-D662-1A19-C515A94AA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091" y="917355"/>
            <a:ext cx="5621650" cy="51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93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97A0-8741-FDBA-39A9-B4F06D01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09940"/>
            <a:ext cx="12571436" cy="1139196"/>
          </a:xfrm>
        </p:spPr>
        <p:txBody>
          <a:bodyPr>
            <a:normAutofit/>
          </a:bodyPr>
          <a:lstStyle/>
          <a:p>
            <a:r>
              <a:rPr lang="en-US" sz="3200" b="1" dirty="0"/>
              <a:t>Recap of today:</a:t>
            </a:r>
            <a:endParaRPr lang="en-NL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40AB8-C665-FB75-8910-11171A3F2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223"/>
            <a:ext cx="10515600" cy="461568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ORCHESTRA, what’s different (compared to ECOSAT, PHREEQC etc.)</a:t>
            </a:r>
          </a:p>
          <a:p>
            <a:pPr lvl="1">
              <a:buFontTx/>
              <a:buChar char="-"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PHREEQC equilibrium and reaction example</a:t>
            </a:r>
          </a:p>
          <a:p>
            <a:pPr lvl="1">
              <a:buFontTx/>
              <a:buChar char="-"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PHREEQC ion exchange and transport example</a:t>
            </a:r>
          </a:p>
          <a:p>
            <a:pPr lvl="1">
              <a:buFontTx/>
              <a:buChar char="-"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How to work with  ORCHESTRA  “phases”, “entities”, “reactions” </a:t>
            </a:r>
          </a:p>
          <a:p>
            <a:pPr lvl="1">
              <a:buFontTx/>
              <a:buChar char="-"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32380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97A0-8741-FDBA-39A9-B4F06D01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182" y="213457"/>
            <a:ext cx="12571436" cy="1139196"/>
          </a:xfrm>
        </p:spPr>
        <p:txBody>
          <a:bodyPr>
            <a:normAutofit/>
          </a:bodyPr>
          <a:lstStyle/>
          <a:p>
            <a:r>
              <a:rPr lang="en-US" sz="3200" b="1" dirty="0"/>
              <a:t>Thank you for your participation!</a:t>
            </a:r>
            <a:endParaRPr lang="en-NL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40AB8-C665-FB75-8910-11171A3F2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223"/>
            <a:ext cx="10515600" cy="461568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Presentation will be sent to participants</a:t>
            </a:r>
          </a:p>
          <a:p>
            <a:pPr lvl="1">
              <a:buFontTx/>
              <a:buChar char="-"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Next course: to be decided </a:t>
            </a:r>
          </a:p>
          <a:p>
            <a:pPr marL="457200" lvl="1" indent="0">
              <a:buNone/>
            </a:pP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Possible topics:</a:t>
            </a:r>
          </a:p>
          <a:p>
            <a:pPr lvl="2">
              <a:buFontTx/>
              <a:buChar char="-"/>
            </a:pPr>
            <a:r>
              <a:rPr lang="en-US" sz="1400" dirty="0"/>
              <a:t>Kinetics</a:t>
            </a:r>
          </a:p>
          <a:p>
            <a:pPr lvl="2">
              <a:buFontTx/>
              <a:buChar char="-"/>
            </a:pPr>
            <a:r>
              <a:rPr lang="en-US" sz="1400" dirty="0"/>
              <a:t>Coupling with Python</a:t>
            </a:r>
          </a:p>
          <a:p>
            <a:pPr lvl="2">
              <a:buFontTx/>
              <a:buChar char="-"/>
            </a:pPr>
            <a:r>
              <a:rPr lang="en-US" sz="1400" dirty="0"/>
              <a:t>Other based on you feed-back</a:t>
            </a:r>
          </a:p>
          <a:p>
            <a:pPr marL="457200" lvl="1" indent="0">
              <a:buNone/>
            </a:pPr>
            <a:endParaRPr lang="en-US" sz="1600" dirty="0"/>
          </a:p>
          <a:p>
            <a:pPr lvl="1">
              <a:buFontTx/>
              <a:buChar char="-"/>
            </a:pPr>
            <a:r>
              <a:rPr lang="en-US" sz="2000" dirty="0"/>
              <a:t>Please send comments / suggestions/ feed-back to </a:t>
            </a:r>
            <a:r>
              <a:rPr lang="en-US" sz="2000" dirty="0">
                <a:hlinkClick r:id="rId2"/>
              </a:rPr>
              <a:t>meeussen@nrg.eu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80533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19EB-1375-B5D5-F400-C7CF64D7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A9E3E-1B96-3289-80DF-0022937C9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12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273" y="0"/>
            <a:ext cx="10553454" cy="964848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ORCHESTRA: Defining a chemical system with the GUI</a:t>
            </a:r>
            <a:br>
              <a:rPr lang="en-US" sz="3200" b="1" dirty="0"/>
            </a:br>
            <a:r>
              <a:rPr lang="en-US" sz="1800" b="1" dirty="0"/>
              <a:t>-creates/edits a text file (</a:t>
            </a:r>
            <a:r>
              <a:rPr lang="en-US" sz="1800" b="1" dirty="0" err="1"/>
              <a:t>chemistry.inp</a:t>
            </a:r>
            <a:r>
              <a:rPr lang="en-US" sz="1800" b="1" dirty="0"/>
              <a:t>) that contains the complete definition of the chemical system</a:t>
            </a:r>
            <a:endParaRPr lang="en-NL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EEE3B1-7E06-0FDC-5515-6E1306E92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978" y="1322369"/>
            <a:ext cx="9301316" cy="518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4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65CA4D-1A0F-FA99-4F9E-5083404C1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672" y="1609751"/>
            <a:ext cx="3796656" cy="21179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6A52E4-DF44-FBD4-7304-CC324050F9CA}"/>
              </a:ext>
            </a:extLst>
          </p:cNvPr>
          <p:cNvSpPr/>
          <p:nvPr/>
        </p:nvSpPr>
        <p:spPr>
          <a:xfrm>
            <a:off x="1027189" y="1425656"/>
            <a:ext cx="2636413" cy="123995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Thermodynamic</a:t>
            </a:r>
            <a:r>
              <a:rPr lang="nl-NL" dirty="0"/>
              <a:t> database</a:t>
            </a:r>
          </a:p>
          <a:p>
            <a:pPr algn="ctr"/>
            <a:r>
              <a:rPr lang="nl-NL" sz="1400" dirty="0"/>
              <a:t>(thermochimie11a.dat) </a:t>
            </a:r>
          </a:p>
          <a:p>
            <a:pPr algn="ctr"/>
            <a:r>
              <a:rPr lang="nl-NL" sz="1400" dirty="0"/>
              <a:t>(</a:t>
            </a:r>
            <a:r>
              <a:rPr lang="nl-NL" sz="1400" dirty="0" err="1"/>
              <a:t>Reactions</a:t>
            </a:r>
            <a:r>
              <a:rPr lang="nl-NL" sz="1400" dirty="0"/>
              <a:t>, constants)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51C387-4BC2-B032-DEFE-62DC148C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273" y="0"/>
            <a:ext cx="10553454" cy="964848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ORCHESTRA: Defining a chemical system with the GUI</a:t>
            </a:r>
            <a:br>
              <a:rPr lang="en-US" sz="3200" b="1" dirty="0"/>
            </a:br>
            <a:r>
              <a:rPr lang="en-US" sz="1800" b="1" dirty="0"/>
              <a:t>- creates/edits a text file (</a:t>
            </a:r>
            <a:r>
              <a:rPr lang="en-US" sz="1800" b="1" dirty="0" err="1"/>
              <a:t>chemistry.inp</a:t>
            </a:r>
            <a:r>
              <a:rPr lang="en-US" sz="1800" b="1" dirty="0"/>
              <a:t>) that contains the complete definition of the chemical system</a:t>
            </a:r>
            <a:endParaRPr lang="en-NL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2A247D-9F6C-EFD2-4C07-48DD38FF8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554" y="1599181"/>
            <a:ext cx="4010297" cy="21285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AD7740-8F5F-71EB-7701-2315A816A101}"/>
              </a:ext>
            </a:extLst>
          </p:cNvPr>
          <p:cNvSpPr/>
          <p:nvPr/>
        </p:nvSpPr>
        <p:spPr>
          <a:xfrm>
            <a:off x="1464182" y="4734001"/>
            <a:ext cx="3501910" cy="115299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Model object </a:t>
            </a:r>
            <a:r>
              <a:rPr lang="nl-NL" dirty="0" err="1"/>
              <a:t>library</a:t>
            </a:r>
            <a:endParaRPr lang="nl-NL" sz="1200" dirty="0"/>
          </a:p>
          <a:p>
            <a:pPr algn="ctr"/>
            <a:r>
              <a:rPr lang="nl-NL" sz="1200" dirty="0"/>
              <a:t>(objects2024.txt)</a:t>
            </a:r>
            <a:endParaRPr lang="nl-NL" dirty="0"/>
          </a:p>
          <a:p>
            <a:pPr algn="ctr"/>
            <a:r>
              <a:rPr lang="nl-NL" sz="1400" dirty="0"/>
              <a:t>(user </a:t>
            </a:r>
            <a:r>
              <a:rPr lang="nl-NL" sz="1400" dirty="0" err="1"/>
              <a:t>definable</a:t>
            </a:r>
            <a:r>
              <a:rPr lang="nl-NL" sz="1400" dirty="0"/>
              <a:t> </a:t>
            </a:r>
            <a:r>
              <a:rPr lang="nl-NL" sz="1400" dirty="0" err="1"/>
              <a:t>chemical</a:t>
            </a:r>
            <a:r>
              <a:rPr lang="nl-NL" sz="1400" dirty="0"/>
              <a:t> model </a:t>
            </a:r>
            <a:r>
              <a:rPr lang="nl-NL" sz="1400" dirty="0" err="1"/>
              <a:t>definitions</a:t>
            </a:r>
            <a:endParaRPr lang="nl-NL" sz="1400" dirty="0"/>
          </a:p>
          <a:p>
            <a:pPr algn="ctr"/>
            <a:r>
              <a:rPr lang="nl-NL" sz="1400" dirty="0"/>
              <a:t>variables, </a:t>
            </a:r>
            <a:r>
              <a:rPr lang="nl-NL" sz="1400" dirty="0" err="1"/>
              <a:t>expressions</a:t>
            </a:r>
            <a:r>
              <a:rPr lang="nl-NL" sz="1400" dirty="0"/>
              <a:t>, </a:t>
            </a:r>
            <a:r>
              <a:rPr lang="nl-NL" sz="1400" dirty="0" err="1"/>
              <a:t>equations</a:t>
            </a:r>
            <a:r>
              <a:rPr lang="nl-NL" sz="1400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C3E4ED-C325-D3D6-E727-907F3AA226C0}"/>
              </a:ext>
            </a:extLst>
          </p:cNvPr>
          <p:cNvSpPr/>
          <p:nvPr/>
        </p:nvSpPr>
        <p:spPr>
          <a:xfrm>
            <a:off x="6356195" y="6179410"/>
            <a:ext cx="1908240" cy="51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Solver</a:t>
            </a:r>
            <a:r>
              <a:rPr lang="nl-NL" dirty="0"/>
              <a:t> (Java)</a:t>
            </a:r>
          </a:p>
          <a:p>
            <a:pPr algn="ctr"/>
            <a:r>
              <a:rPr lang="nl-NL" sz="1200" dirty="0"/>
              <a:t>(variables, </a:t>
            </a:r>
            <a:r>
              <a:rPr lang="nl-NL" sz="1200" dirty="0" err="1"/>
              <a:t>expressions</a:t>
            </a:r>
            <a:r>
              <a:rPr lang="nl-NL" sz="1200" dirty="0"/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9DF982-0849-C8DE-9502-93933BA890EB}"/>
              </a:ext>
            </a:extLst>
          </p:cNvPr>
          <p:cNvSpPr/>
          <p:nvPr/>
        </p:nvSpPr>
        <p:spPr>
          <a:xfrm>
            <a:off x="8424481" y="6179410"/>
            <a:ext cx="1908240" cy="51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Solver</a:t>
            </a:r>
            <a:r>
              <a:rPr lang="nl-NL" dirty="0"/>
              <a:t> (C++)</a:t>
            </a:r>
          </a:p>
          <a:p>
            <a:pPr algn="ctr"/>
            <a:r>
              <a:rPr lang="nl-NL" sz="1200" dirty="0"/>
              <a:t>(variables, </a:t>
            </a:r>
            <a:r>
              <a:rPr lang="nl-NL" sz="1200" dirty="0" err="1"/>
              <a:t>expressions</a:t>
            </a:r>
            <a:r>
              <a:rPr lang="nl-NL" sz="1200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856305-DC2F-3EC4-FD26-91EC29E85B4C}"/>
              </a:ext>
            </a:extLst>
          </p:cNvPr>
          <p:cNvSpPr txBox="1"/>
          <p:nvPr/>
        </p:nvSpPr>
        <p:spPr>
          <a:xfrm>
            <a:off x="7236824" y="979870"/>
            <a:ext cx="3477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Switch between graphical and text view</a:t>
            </a:r>
            <a:endParaRPr lang="en-GB" sz="16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17F50A-AD1A-58FD-8769-38242B11BE67}"/>
              </a:ext>
            </a:extLst>
          </p:cNvPr>
          <p:cNvCxnSpPr>
            <a:cxnSpLocks/>
          </p:cNvCxnSpPr>
          <p:nvPr/>
        </p:nvCxnSpPr>
        <p:spPr>
          <a:xfrm flipH="1">
            <a:off x="7410994" y="1310640"/>
            <a:ext cx="933465" cy="568743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6BC2F3-72B4-FB3C-D28D-059234BC24E7}"/>
              </a:ext>
            </a:extLst>
          </p:cNvPr>
          <p:cNvCxnSpPr>
            <a:cxnSpLocks/>
          </p:cNvCxnSpPr>
          <p:nvPr/>
        </p:nvCxnSpPr>
        <p:spPr>
          <a:xfrm>
            <a:off x="9231086" y="1310640"/>
            <a:ext cx="1872343" cy="535577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AA6CE5-A633-9882-F941-0CC643FF741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663602" y="2045633"/>
            <a:ext cx="1857632" cy="278895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FEA8CC6-6E31-4C26-CDF8-38124D310DF2}"/>
              </a:ext>
            </a:extLst>
          </p:cNvPr>
          <p:cNvSpPr txBox="1"/>
          <p:nvPr/>
        </p:nvSpPr>
        <p:spPr>
          <a:xfrm>
            <a:off x="819273" y="2826949"/>
            <a:ext cx="2912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Select substances and reactions</a:t>
            </a:r>
          </a:p>
          <a:p>
            <a:r>
              <a:rPr lang="en-US" sz="1600" dirty="0"/>
              <a:t>from database</a:t>
            </a:r>
            <a:endParaRPr lang="en-GB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682E4C-8E59-DDBD-50AB-F34CE9E5C32B}"/>
              </a:ext>
            </a:extLst>
          </p:cNvPr>
          <p:cNvCxnSpPr>
            <a:cxnSpLocks/>
          </p:cNvCxnSpPr>
          <p:nvPr/>
        </p:nvCxnSpPr>
        <p:spPr>
          <a:xfrm flipV="1">
            <a:off x="3479074" y="3069733"/>
            <a:ext cx="631372" cy="4623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9094605-467F-F707-1CC4-1559DC39362F}"/>
              </a:ext>
            </a:extLst>
          </p:cNvPr>
          <p:cNvSpPr txBox="1"/>
          <p:nvPr/>
        </p:nvSpPr>
        <p:spPr>
          <a:xfrm>
            <a:off x="3322319" y="1062176"/>
            <a:ext cx="1488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Select database</a:t>
            </a:r>
            <a:endParaRPr lang="en-GB" sz="160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7D5D621-A230-3638-78F2-D80B63F42C6D}"/>
              </a:ext>
            </a:extLst>
          </p:cNvPr>
          <p:cNvCxnSpPr/>
          <p:nvPr/>
        </p:nvCxnSpPr>
        <p:spPr>
          <a:xfrm flipV="1">
            <a:off x="191588" y="4339937"/>
            <a:ext cx="11695612" cy="6531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AAF9C2A-BE3A-6830-9EEB-E45FECBAA57C}"/>
              </a:ext>
            </a:extLst>
          </p:cNvPr>
          <p:cNvSpPr/>
          <p:nvPr/>
        </p:nvSpPr>
        <p:spPr>
          <a:xfrm>
            <a:off x="6321362" y="4105016"/>
            <a:ext cx="3976526" cy="13968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Chemical </a:t>
            </a:r>
            <a:r>
              <a:rPr lang="nl-NL" dirty="0" err="1"/>
              <a:t>definition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file</a:t>
            </a:r>
          </a:p>
          <a:p>
            <a:pPr algn="ctr"/>
            <a:r>
              <a:rPr lang="nl-NL" sz="1400" dirty="0"/>
              <a:t>(chemistry1.inp)</a:t>
            </a:r>
          </a:p>
          <a:p>
            <a:pPr algn="ctr"/>
            <a:endParaRPr lang="nl-NL" sz="1400" dirty="0"/>
          </a:p>
          <a:p>
            <a:pPr algn="ctr"/>
            <a:r>
              <a:rPr lang="nl-NL" sz="1400" dirty="0"/>
              <a:t>@scan: objects2024.txt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C02686-F791-5E4C-51D5-8C9777CAFD1D}"/>
              </a:ext>
            </a:extLst>
          </p:cNvPr>
          <p:cNvSpPr txBox="1"/>
          <p:nvPr/>
        </p:nvSpPr>
        <p:spPr>
          <a:xfrm>
            <a:off x="42401" y="5104548"/>
            <a:ext cx="869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Running</a:t>
            </a:r>
          </a:p>
          <a:p>
            <a:r>
              <a:rPr lang="en-US" sz="1600" dirty="0"/>
              <a:t>system</a:t>
            </a:r>
            <a:endParaRPr lang="en-GB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8AF4E-BA6A-D5E8-A021-74BD00CCEF39}"/>
              </a:ext>
            </a:extLst>
          </p:cNvPr>
          <p:cNvSpPr txBox="1"/>
          <p:nvPr/>
        </p:nvSpPr>
        <p:spPr>
          <a:xfrm>
            <a:off x="0" y="1789078"/>
            <a:ext cx="8785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Defining</a:t>
            </a:r>
          </a:p>
          <a:p>
            <a:r>
              <a:rPr lang="en-US" sz="1600" dirty="0"/>
              <a:t>system</a:t>
            </a:r>
            <a:endParaRPr lang="en-GB" sz="16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01E504E-D4E3-A879-3A5A-B54086828012}"/>
              </a:ext>
            </a:extLst>
          </p:cNvPr>
          <p:cNvCxnSpPr>
            <a:cxnSpLocks/>
          </p:cNvCxnSpPr>
          <p:nvPr/>
        </p:nvCxnSpPr>
        <p:spPr>
          <a:xfrm flipH="1">
            <a:off x="7354389" y="5556513"/>
            <a:ext cx="422658" cy="548044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0237F2-606D-C540-17F3-1AA64725312C}"/>
              </a:ext>
            </a:extLst>
          </p:cNvPr>
          <p:cNvCxnSpPr>
            <a:cxnSpLocks/>
          </p:cNvCxnSpPr>
          <p:nvPr/>
        </p:nvCxnSpPr>
        <p:spPr>
          <a:xfrm>
            <a:off x="8782594" y="5583949"/>
            <a:ext cx="596007" cy="485925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FCCB23-8C0F-90C3-A49A-816CB3B5E2F0}"/>
              </a:ext>
            </a:extLst>
          </p:cNvPr>
          <p:cNvCxnSpPr>
            <a:cxnSpLocks/>
          </p:cNvCxnSpPr>
          <p:nvPr/>
        </p:nvCxnSpPr>
        <p:spPr>
          <a:xfrm flipH="1">
            <a:off x="3949338" y="5131372"/>
            <a:ext cx="3013165" cy="96201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4D453F3-B3F8-04E6-10EA-9538DE55F80A}"/>
              </a:ext>
            </a:extLst>
          </p:cNvPr>
          <p:cNvCxnSpPr>
            <a:cxnSpLocks/>
          </p:cNvCxnSpPr>
          <p:nvPr/>
        </p:nvCxnSpPr>
        <p:spPr>
          <a:xfrm>
            <a:off x="8118037" y="3783874"/>
            <a:ext cx="0" cy="29346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52375D5-6BB1-9062-AED4-F8C94432954C}"/>
              </a:ext>
            </a:extLst>
          </p:cNvPr>
          <p:cNvSpPr/>
          <p:nvPr/>
        </p:nvSpPr>
        <p:spPr>
          <a:xfrm>
            <a:off x="8233814" y="2899823"/>
            <a:ext cx="431074" cy="22206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588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273" y="166776"/>
            <a:ext cx="10366887" cy="4278950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ORCHESTRA: Defining a chemical system with the GUI</a:t>
            </a:r>
            <a:br>
              <a:rPr lang="en-US" sz="3200" b="1" dirty="0"/>
            </a:br>
            <a:br>
              <a:rPr lang="en-US" sz="1800" dirty="0"/>
            </a:br>
            <a:r>
              <a:rPr lang="en-US" sz="1800" dirty="0"/>
              <a:t>- </a:t>
            </a:r>
            <a:r>
              <a:rPr lang="en-US" sz="1800" b="1" dirty="0"/>
              <a:t>GUI</a:t>
            </a:r>
            <a:r>
              <a:rPr lang="en-US" sz="1800" dirty="0"/>
              <a:t> uses thermodynamic </a:t>
            </a:r>
            <a:r>
              <a:rPr lang="en-US" sz="1800" b="1" dirty="0"/>
              <a:t>database(s) </a:t>
            </a:r>
            <a:r>
              <a:rPr lang="en-US" sz="1800" dirty="0"/>
              <a:t>for selection of </a:t>
            </a:r>
            <a:r>
              <a:rPr lang="en-US" sz="1800" b="1" dirty="0"/>
              <a:t>substances/reactions</a:t>
            </a:r>
            <a:br>
              <a:rPr lang="en-US" sz="1800" dirty="0"/>
            </a:br>
            <a:r>
              <a:rPr lang="en-US" sz="1800" dirty="0"/>
              <a:t>- </a:t>
            </a:r>
            <a:r>
              <a:rPr lang="en-US" sz="1800" b="1" dirty="0"/>
              <a:t>GUI</a:t>
            </a:r>
            <a:r>
              <a:rPr lang="en-US" sz="1800" dirty="0"/>
              <a:t> creates/edits a </a:t>
            </a:r>
            <a:r>
              <a:rPr lang="en-US" sz="1800" b="1" dirty="0"/>
              <a:t>text file </a:t>
            </a:r>
            <a:r>
              <a:rPr lang="en-US" sz="1800" dirty="0"/>
              <a:t>(</a:t>
            </a:r>
            <a:r>
              <a:rPr lang="en-US" sz="1800" dirty="0" err="1"/>
              <a:t>chemistry.inp</a:t>
            </a:r>
            <a:r>
              <a:rPr lang="en-US" sz="1800" dirty="0"/>
              <a:t>) that contains the </a:t>
            </a:r>
            <a:r>
              <a:rPr lang="en-US" sz="1800" b="1" dirty="0"/>
              <a:t>complete definition </a:t>
            </a:r>
            <a:r>
              <a:rPr lang="en-US" sz="1800" dirty="0"/>
              <a:t>of a chemical system</a:t>
            </a:r>
            <a:br>
              <a:rPr lang="en-US" sz="1800" dirty="0"/>
            </a:br>
            <a:r>
              <a:rPr lang="en-US" sz="1800" dirty="0"/>
              <a:t>- </a:t>
            </a:r>
            <a:r>
              <a:rPr lang="en-US" sz="1800" dirty="0" err="1"/>
              <a:t>chemistry.inp</a:t>
            </a:r>
            <a:r>
              <a:rPr lang="en-US" sz="1800" dirty="0"/>
              <a:t> </a:t>
            </a:r>
            <a:r>
              <a:rPr lang="en-US" sz="1800" b="1" dirty="0"/>
              <a:t>text file </a:t>
            </a:r>
            <a:r>
              <a:rPr lang="en-US" sz="1800" dirty="0"/>
              <a:t>can also be edited in </a:t>
            </a:r>
            <a:r>
              <a:rPr lang="en-US" sz="1800" b="1" dirty="0"/>
              <a:t>text mode</a:t>
            </a:r>
            <a:r>
              <a:rPr lang="en-US" sz="1800" dirty="0"/>
              <a:t>: switch between GUI view/text View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- </a:t>
            </a:r>
            <a:r>
              <a:rPr lang="en-US" sz="1800" dirty="0" err="1"/>
              <a:t>chemistry.inp</a:t>
            </a:r>
            <a:r>
              <a:rPr lang="en-US" sz="1800" dirty="0"/>
              <a:t> </a:t>
            </a:r>
            <a:r>
              <a:rPr lang="en-US" sz="1800" b="1" dirty="0"/>
              <a:t>text file </a:t>
            </a:r>
            <a:r>
              <a:rPr lang="en-US" sz="1800" dirty="0"/>
              <a:t>can be </a:t>
            </a:r>
            <a:r>
              <a:rPr lang="en-US" sz="1800" b="1" dirty="0"/>
              <a:t>processed</a:t>
            </a:r>
            <a:r>
              <a:rPr lang="en-US" sz="1800" dirty="0"/>
              <a:t> by the </a:t>
            </a:r>
            <a:r>
              <a:rPr lang="en-US" sz="1800" b="1" dirty="0"/>
              <a:t>solver (Java or C++)</a:t>
            </a:r>
            <a:br>
              <a:rPr lang="en-US" sz="1800" dirty="0"/>
            </a:br>
            <a:r>
              <a:rPr lang="en-US" sz="1800" dirty="0"/>
              <a:t>- thermodynamic database </a:t>
            </a:r>
            <a:r>
              <a:rPr lang="en-US" sz="1800" b="1" dirty="0"/>
              <a:t>not needed </a:t>
            </a:r>
            <a:r>
              <a:rPr lang="en-US" sz="1800" dirty="0"/>
              <a:t>during calculations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- </a:t>
            </a:r>
            <a:r>
              <a:rPr lang="en-US" sz="1800" b="1" dirty="0"/>
              <a:t>input text file is </a:t>
            </a:r>
            <a:r>
              <a:rPr lang="en-US" sz="1800" dirty="0"/>
              <a:t>simple </a:t>
            </a:r>
            <a:r>
              <a:rPr lang="en-US" sz="1800" b="1" dirty="0"/>
              <a:t>computer program </a:t>
            </a:r>
            <a:r>
              <a:rPr lang="en-US" sz="1800" dirty="0"/>
              <a:t>in ORCHESTRA language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- input file contains </a:t>
            </a:r>
            <a:r>
              <a:rPr lang="en-US" sz="1800" b="1" dirty="0"/>
              <a:t>variables, expression, equations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b="1" dirty="0"/>
              <a:t>- temperature dependent </a:t>
            </a:r>
            <a:r>
              <a:rPr lang="en-US" sz="1800" b="1" dirty="0" err="1"/>
              <a:t>logk</a:t>
            </a:r>
            <a:r>
              <a:rPr lang="en-US" sz="1800" b="1" dirty="0"/>
              <a:t> expressions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b="1" dirty="0"/>
              <a:t>- kinetic rate expressions</a:t>
            </a:r>
            <a:endParaRPr lang="en-NL" sz="1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EEE3B1-7E06-0FDC-5515-6E1306E92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66" y="4667731"/>
            <a:ext cx="3558855" cy="19852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5D8D12-ACE2-483C-C698-DCA7924F0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842" y="4637010"/>
            <a:ext cx="3870316" cy="205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24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65" y="208344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ORCHESTRA: Selection of reactions from database</a:t>
            </a:r>
            <a:endParaRPr lang="en-NL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659B1-C3FC-C8D9-D737-593FC956B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0110"/>
            <a:ext cx="12192000" cy="44977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9352E2-E01E-047B-745A-0DFA7EA5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0110"/>
            <a:ext cx="12192000" cy="44977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17E768-28BF-C7ED-55AF-8BD38BBD8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0110"/>
            <a:ext cx="12192000" cy="44977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1115C1-AEA9-F780-718F-BDE7233FD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0110"/>
            <a:ext cx="12192000" cy="449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09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Stability/predominance diagrams</a:t>
            </a:r>
            <a:endParaRPr lang="en-US" sz="2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718E90-03B1-9A73-71D9-3316C0B8A95F}"/>
              </a:ext>
            </a:extLst>
          </p:cNvPr>
          <p:cNvSpPr txBox="1">
            <a:spLocks/>
          </p:cNvSpPr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2 input variables (e.g. pH pe) 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Calculate equilibrium at each location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Indicate predominant species/form(with highest concentration)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latin typeface="+mn-lt"/>
              <a:ea typeface="+mn-ea"/>
              <a:cs typeface="+mn-cs"/>
            </a:endParaRP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0D9CB7D-FFCB-978B-E644-E98FC762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221344"/>
            <a:ext cx="6389346" cy="442462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574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65" y="208344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Defining a chemical system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888150" y="1225689"/>
            <a:ext cx="86926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Selection of primary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independent entities can be selected (automatically)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H, O, and H2O represent water (from PHREEQC database)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 components primary entities can be selected from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primary entity -&gt; fixed log activity or fixed total mass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Species can be selected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Reactions are defined hierarchically but can be rewritten in terms of primary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Activity correction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Charge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Predominance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414837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65" y="208344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Format input files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795622" y="1214803"/>
            <a:ext cx="8702164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72 Monospace" panose="020B0509030603020204" pitchFamily="49" charset="0"/>
              </a:rPr>
              <a:t>User defined list of variables (column headers)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72 Monospace" panose="020B0509030603020204" pitchFamily="49" charset="0"/>
              </a:rPr>
              <a:t>User defined set of datapoints (rows)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72 Monospace" panose="020B0509030603020204" pitchFamily="49" charset="0"/>
              </a:rPr>
              <a:t>Can be pasted directly from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72 Monospace" panose="020B0509030603020204" pitchFamily="49" charset="0"/>
              </a:rPr>
              <a:t>Order columns not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72 Monospace" panose="020B0509030603020204" pitchFamily="49" charset="0"/>
              </a:rPr>
              <a:t>Values given in input overwrite default values in chemistry file</a:t>
            </a:r>
          </a:p>
          <a:p>
            <a:endParaRPr lang="en-US" dirty="0">
              <a:cs typeface="72 Monospace" panose="020B0509030603020204" pitchFamily="49" charset="0"/>
            </a:endParaRPr>
          </a:p>
          <a:p>
            <a:endParaRPr lang="en-US" dirty="0">
              <a:cs typeface="72 Monospace" panose="020B0509030603020204" pitchFamily="49" charset="0"/>
            </a:endParaRP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Var: 	pH 	pe 	</a:t>
            </a:r>
            <a:r>
              <a:rPr lang="en-US" sz="1400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Ca.tot</a:t>
            </a:r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 	. . . .</a:t>
            </a: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Data: 	7   	8.3  	1e-3	. . . .</a:t>
            </a: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Data:	4	5.7	1.4e-2	. . . .</a:t>
            </a: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. . . .</a:t>
            </a: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. . . .</a:t>
            </a: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. . . .</a:t>
            </a:r>
          </a:p>
          <a:p>
            <a:endParaRPr lang="en-US" dirty="0"/>
          </a:p>
          <a:p>
            <a:r>
              <a:rPr lang="en-US" dirty="0"/>
              <a:t>Serial calculations using a loop / sweep</a:t>
            </a:r>
          </a:p>
          <a:p>
            <a:endParaRPr lang="en-US" dirty="0"/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Sweep{ 21</a:t>
            </a: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    Swept: pH 2 12 </a:t>
            </a:r>
            <a:r>
              <a:rPr lang="en-US" sz="1400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lin</a:t>
            </a:r>
            <a:endParaRPr lang="en-US" sz="1400" dirty="0">
              <a:latin typeface="72 Monospace" panose="020B0509030603020204" pitchFamily="49" charset="0"/>
              <a:cs typeface="72 Monospace" panose="020B0509030603020204" pitchFamily="49" charset="0"/>
            </a:endParaRP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    Swept: pe 16 6 </a:t>
            </a:r>
            <a:r>
              <a:rPr lang="en-US" sz="1400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lin</a:t>
            </a:r>
            <a:endParaRPr lang="en-US" sz="1400" dirty="0">
              <a:latin typeface="72 Monospace" panose="020B0509030603020204" pitchFamily="49" charset="0"/>
              <a:cs typeface="72 Monospace" panose="020B0509030603020204" pitchFamily="49" charset="0"/>
            </a:endParaRP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20602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65" y="208344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ORCHESTRA: Input text file</a:t>
            </a:r>
            <a:endParaRPr lang="en-NL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AECDE-750E-48EC-750C-3B7B7443E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09" y="1024359"/>
            <a:ext cx="7525578" cy="385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29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65" y="208344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Format output files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888150" y="1225689"/>
            <a:ext cx="869264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output</a:t>
            </a:r>
            <a:endParaRPr lang="en-US" dirty="0"/>
          </a:p>
          <a:p>
            <a:endParaRPr lang="en-US" sz="1400" dirty="0">
              <a:latin typeface="72 Monospace" panose="020B0509030603020204" pitchFamily="49" charset="0"/>
              <a:cs typeface="72 Monospace" panose="020B0509030603020204" pitchFamily="49" charset="0"/>
            </a:endParaRPr>
          </a:p>
          <a:p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Var: 	pH 	pe 	</a:t>
            </a:r>
            <a:r>
              <a:rPr lang="en-US" sz="1400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Ca.tot</a:t>
            </a:r>
            <a:r>
              <a:rPr lang="en-US" sz="1400" dirty="0">
                <a:latin typeface="72 Monospace" panose="020B0509030603020204" pitchFamily="49" charset="0"/>
                <a:cs typeface="72 Monospace" panose="020B0509030603020204" pitchFamily="49" charset="0"/>
              </a:rPr>
              <a:t> 	. . . .</a:t>
            </a:r>
          </a:p>
          <a:p>
            <a:endParaRPr lang="en-US" sz="1400" dirty="0">
              <a:latin typeface="72 Monospace" panose="020B0509030603020204" pitchFamily="49" charset="0"/>
              <a:cs typeface="72 Monospace" panose="020B0509030603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format input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Output variables are defined in output file itself!!!!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row column headers of output file defines output variables and their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can be directly pasted into Excel to create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This is very flexible, (any variable can be requested for output) </a:t>
            </a:r>
            <a:r>
              <a:rPr lang="en-US" b="1" dirty="0"/>
              <a:t>but</a:t>
            </a:r>
            <a:r>
              <a:rPr lang="en-US" dirty="0"/>
              <a:t> you need to know the names of the variables you want!</a:t>
            </a:r>
          </a:p>
          <a:p>
            <a:r>
              <a:rPr lang="en-US" sz="1400" dirty="0"/>
              <a:t>(consequence of modular orchestra structure: output module has no knowledge of chemistry)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b="1" dirty="0"/>
              <a:t>Other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PHREEQC type output (see demo)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GUI can help with selection of variables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72992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65" y="208344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ORCHESTRA: output</a:t>
            </a:r>
            <a:endParaRPr lang="en-NL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C10727-0A0A-2793-6CD7-0703335D7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1" y="1872574"/>
            <a:ext cx="6103171" cy="49221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6C0572-0184-3689-5499-07DFFB8D6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130" y="-63230"/>
            <a:ext cx="6750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31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678" y="1044998"/>
            <a:ext cx="10948029" cy="2912233"/>
          </a:xfrm>
        </p:spPr>
        <p:txBody>
          <a:bodyPr>
            <a:normAutofit/>
          </a:bodyPr>
          <a:lstStyle/>
          <a:p>
            <a:r>
              <a:rPr lang="en-US" sz="3200" b="1" dirty="0"/>
              <a:t>Are there any questions about: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2000" b="1" dirty="0"/>
              <a:t>- defining a chemical system or </a:t>
            </a:r>
            <a:br>
              <a:rPr lang="en-US" sz="2000" b="1" dirty="0"/>
            </a:br>
            <a:r>
              <a:rPr lang="en-US" sz="2000" b="1" dirty="0"/>
              <a:t>- defining input output format files?</a:t>
            </a:r>
            <a:endParaRPr lang="en-NL" sz="2000" dirty="0"/>
          </a:p>
        </p:txBody>
      </p:sp>
    </p:spTree>
    <p:extLst>
      <p:ext uri="{BB962C8B-B14F-4D97-AF65-F5344CB8AC3E}">
        <p14:creationId xmlns:p14="http://schemas.microsoft.com/office/powerpoint/2010/main" val="401025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6BD8-63CB-B552-AC34-BAEAB4D6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28" y="221350"/>
            <a:ext cx="10515600" cy="1325563"/>
          </a:xfrm>
        </p:spPr>
        <p:txBody>
          <a:bodyPr/>
          <a:lstStyle/>
          <a:p>
            <a:r>
              <a:rPr lang="en-US" b="1" dirty="0"/>
              <a:t>Part II ORCHESTRA chemical model structure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75CE9-59F4-DD14-8D4E-C1352A1C1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0" y="1408981"/>
            <a:ext cx="12105735" cy="3462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ORCHESTRA</a:t>
            </a:r>
            <a:r>
              <a:rPr lang="en-US" sz="2000" dirty="0"/>
              <a:t> chemical models are composed from a small set of basic building blocks or object classes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“</a:t>
            </a:r>
            <a:r>
              <a:rPr lang="en-US" sz="2000" b="1" dirty="0"/>
              <a:t>object oriented</a:t>
            </a:r>
            <a:r>
              <a:rPr lang="en-US" sz="2000" dirty="0"/>
              <a:t>” approach:</a:t>
            </a:r>
          </a:p>
          <a:p>
            <a:r>
              <a:rPr lang="en-US" sz="2000" dirty="0"/>
              <a:t>Ensures </a:t>
            </a:r>
            <a:r>
              <a:rPr lang="en-US" sz="2000" b="1" dirty="0"/>
              <a:t>consistency</a:t>
            </a:r>
            <a:r>
              <a:rPr lang="en-US" sz="2000" dirty="0"/>
              <a:t> and compatibility between models</a:t>
            </a:r>
          </a:p>
          <a:p>
            <a:r>
              <a:rPr lang="en-US" sz="2000" dirty="0"/>
              <a:t>Makes model definitions very </a:t>
            </a:r>
            <a:r>
              <a:rPr lang="en-US" sz="2000" b="1" dirty="0"/>
              <a:t>compact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Have a look in the </a:t>
            </a:r>
            <a:r>
              <a:rPr lang="en-US" sz="2000" b="1" dirty="0"/>
              <a:t>objects2024.txt </a:t>
            </a:r>
            <a:r>
              <a:rPr lang="en-US" sz="2000" dirty="0"/>
              <a:t>file (the chemical model library)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DCDD8-33DC-6382-92D7-36650A513ABE}"/>
              </a:ext>
            </a:extLst>
          </p:cNvPr>
          <p:cNvSpPr/>
          <p:nvPr/>
        </p:nvSpPr>
        <p:spPr>
          <a:xfrm>
            <a:off x="655608" y="5572664"/>
            <a:ext cx="2087592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Phases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88E045-783C-2B30-8B3B-080369DB003C}"/>
              </a:ext>
            </a:extLst>
          </p:cNvPr>
          <p:cNvSpPr/>
          <p:nvPr/>
        </p:nvSpPr>
        <p:spPr>
          <a:xfrm>
            <a:off x="3418936" y="5572663"/>
            <a:ext cx="2087592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Entities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3FEBCC-AA5C-1A85-7D03-53C882ED68D9}"/>
              </a:ext>
            </a:extLst>
          </p:cNvPr>
          <p:cNvSpPr/>
          <p:nvPr/>
        </p:nvSpPr>
        <p:spPr>
          <a:xfrm>
            <a:off x="6297284" y="5572663"/>
            <a:ext cx="2087592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Reactions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EC19C8-26AD-54F8-2E47-EDDAB17B6FA0}"/>
              </a:ext>
            </a:extLst>
          </p:cNvPr>
          <p:cNvSpPr/>
          <p:nvPr/>
        </p:nvSpPr>
        <p:spPr>
          <a:xfrm>
            <a:off x="9011729" y="5578411"/>
            <a:ext cx="2087592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Equations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05552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6BD8-63CB-B552-AC34-BAEAB4D6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28" y="221350"/>
            <a:ext cx="10515600" cy="1325563"/>
          </a:xfrm>
        </p:spPr>
        <p:txBody>
          <a:bodyPr/>
          <a:lstStyle/>
          <a:p>
            <a:r>
              <a:rPr lang="en-US" b="1" dirty="0"/>
              <a:t>Part II ORCHESTRA chemical model structure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75CE9-59F4-DD14-8D4E-C1352A1C1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0" y="1408981"/>
            <a:ext cx="12105735" cy="3462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Basic model building blocks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Equations</a:t>
            </a:r>
            <a:r>
              <a:rPr lang="en-US" sz="2000" dirty="0"/>
              <a:t>	To solve arbitrary unknown – equation combinations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Entities</a:t>
            </a:r>
            <a:r>
              <a:rPr lang="en-US" sz="2000" dirty="0"/>
              <a:t>		An abstract “species” with .con and .</a:t>
            </a:r>
            <a:r>
              <a:rPr lang="en-US" sz="2000" dirty="0" err="1"/>
              <a:t>logact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Phases</a:t>
            </a:r>
            <a:r>
              <a:rPr lang="en-US" sz="2000" dirty="0"/>
              <a:t>		Hierarchical system compartments in which entities can be present</a:t>
            </a:r>
          </a:p>
          <a:p>
            <a:pPr marL="0" indent="0">
              <a:buNone/>
            </a:pPr>
            <a:r>
              <a:rPr lang="en-US" sz="2000" b="1" dirty="0"/>
              <a:t>Reactions</a:t>
            </a:r>
            <a:r>
              <a:rPr lang="en-US" sz="2000" dirty="0"/>
              <a:t>	Reactions between entities to create new entities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DCDD8-33DC-6382-92D7-36650A513ABE}"/>
              </a:ext>
            </a:extLst>
          </p:cNvPr>
          <p:cNvSpPr/>
          <p:nvPr/>
        </p:nvSpPr>
        <p:spPr>
          <a:xfrm>
            <a:off x="655608" y="5572664"/>
            <a:ext cx="2087592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Phases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88E045-783C-2B30-8B3B-080369DB003C}"/>
              </a:ext>
            </a:extLst>
          </p:cNvPr>
          <p:cNvSpPr/>
          <p:nvPr/>
        </p:nvSpPr>
        <p:spPr>
          <a:xfrm>
            <a:off x="3418936" y="5572663"/>
            <a:ext cx="2087592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Entities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3FEBCC-AA5C-1A85-7D03-53C882ED68D9}"/>
              </a:ext>
            </a:extLst>
          </p:cNvPr>
          <p:cNvSpPr/>
          <p:nvPr/>
        </p:nvSpPr>
        <p:spPr>
          <a:xfrm>
            <a:off x="6297284" y="5572663"/>
            <a:ext cx="2087592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Reactions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EC19C8-26AD-54F8-2E47-EDDAB17B6FA0}"/>
              </a:ext>
            </a:extLst>
          </p:cNvPr>
          <p:cNvSpPr/>
          <p:nvPr/>
        </p:nvSpPr>
        <p:spPr>
          <a:xfrm>
            <a:off x="9011729" y="5578411"/>
            <a:ext cx="2087592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Equations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0851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93" y="34117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model building blocks: Entities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375557" y="798425"/>
            <a:ext cx="107541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Entities are a kind of abstract chemical “species”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entity exists in a certain “phase” (with its own mass balance units)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entity has the variables:   &lt;name&gt;</a:t>
            </a:r>
            <a:r>
              <a:rPr lang="en-US" b="1" dirty="0"/>
              <a:t>.</a:t>
            </a:r>
            <a:r>
              <a:rPr lang="en-US" b="1" dirty="0" err="1"/>
              <a:t>logact</a:t>
            </a:r>
            <a:r>
              <a:rPr lang="en-US" b="1" dirty="0"/>
              <a:t>      </a:t>
            </a:r>
            <a:r>
              <a:rPr lang="en-US" dirty="0"/>
              <a:t>&lt;name&gt;</a:t>
            </a:r>
            <a:r>
              <a:rPr lang="en-US" b="1" dirty="0"/>
              <a:t>.con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All entity </a:t>
            </a:r>
            <a:r>
              <a:rPr lang="en-US" dirty="0"/>
              <a:t>types are automatically </a:t>
            </a:r>
            <a:r>
              <a:rPr lang="en-US" b="1" dirty="0"/>
              <a:t>compatible</a:t>
            </a:r>
            <a:r>
              <a:rPr lang="en-US" dirty="0"/>
              <a:t> with “</a:t>
            </a:r>
            <a:r>
              <a:rPr lang="en-US" b="1" dirty="0"/>
              <a:t>reactions</a:t>
            </a:r>
            <a:r>
              <a:rPr lang="en-US" dirty="0"/>
              <a:t>” and can be used as reactants.  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Examples of entity types: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2E4391-94F2-4ADC-3070-0E3DCDCB2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770453"/>
              </p:ext>
            </p:extLst>
          </p:nvPr>
        </p:nvGraphicFramePr>
        <p:xfrm>
          <a:off x="419100" y="2778043"/>
          <a:ext cx="1119414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829">
                  <a:extLst>
                    <a:ext uri="{9D8B030D-6E8A-4147-A177-3AD203B41FA5}">
                      <a16:colId xmlns:a16="http://schemas.microsoft.com/office/drawing/2014/main" val="2144992325"/>
                    </a:ext>
                  </a:extLst>
                </a:gridCol>
                <a:gridCol w="2831481">
                  <a:extLst>
                    <a:ext uri="{9D8B030D-6E8A-4147-A177-3AD203B41FA5}">
                      <a16:colId xmlns:a16="http://schemas.microsoft.com/office/drawing/2014/main" val="4005602821"/>
                    </a:ext>
                  </a:extLst>
                </a:gridCol>
                <a:gridCol w="1646177">
                  <a:extLst>
                    <a:ext uri="{9D8B030D-6E8A-4147-A177-3AD203B41FA5}">
                      <a16:colId xmlns:a16="http://schemas.microsoft.com/office/drawing/2014/main" val="1481734636"/>
                    </a:ext>
                  </a:extLst>
                </a:gridCol>
                <a:gridCol w="1681913">
                  <a:extLst>
                    <a:ext uri="{9D8B030D-6E8A-4147-A177-3AD203B41FA5}">
                      <a16:colId xmlns:a16="http://schemas.microsoft.com/office/drawing/2014/main" val="3603451639"/>
                    </a:ext>
                  </a:extLst>
                </a:gridCol>
                <a:gridCol w="2795745">
                  <a:extLst>
                    <a:ext uri="{9D8B030D-6E8A-4147-A177-3AD203B41FA5}">
                      <a16:colId xmlns:a16="http://schemas.microsoft.com/office/drawing/2014/main" val="400828111"/>
                    </a:ext>
                  </a:extLst>
                </a:gridCol>
              </a:tblGrid>
              <a:tr h="617789">
                <a:tc>
                  <a:txBody>
                    <a:bodyPr/>
                    <a:lstStyle/>
                    <a:p>
                      <a:r>
                        <a:rPr lang="en-US" dirty="0"/>
                        <a:t>Entity type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represents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 in phase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logact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.con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360180"/>
                  </a:ext>
                </a:extLst>
              </a:tr>
              <a:tr h="335917">
                <a:tc>
                  <a:txBody>
                    <a:bodyPr/>
                    <a:lstStyle/>
                    <a:p>
                      <a:r>
                        <a:rPr lang="en-US" dirty="0"/>
                        <a:t>@species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aqueous species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 activity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Concentration (mol/l)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92703"/>
                  </a:ext>
                </a:extLst>
              </a:tr>
              <a:tr h="491519">
                <a:tc>
                  <a:txBody>
                    <a:bodyPr/>
                    <a:lstStyle/>
                    <a:p>
                      <a:r>
                        <a:rPr lang="en-US" dirty="0"/>
                        <a:t>@mineral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Precipitating mineral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Saturation index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Concentration (mol/l)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519177"/>
                  </a:ext>
                </a:extLst>
              </a:tr>
              <a:tr h="335917">
                <a:tc>
                  <a:txBody>
                    <a:bodyPr/>
                    <a:lstStyle/>
                    <a:p>
                      <a:r>
                        <a:rPr lang="en-US" dirty="0"/>
                        <a:t>@gas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 pressure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 pressure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009629"/>
                  </a:ext>
                </a:extLst>
              </a:tr>
              <a:tr h="335917">
                <a:tc>
                  <a:txBody>
                    <a:bodyPr/>
                    <a:lstStyle/>
                    <a:p>
                      <a:r>
                        <a:rPr lang="en-US" dirty="0"/>
                        <a:t>@surface_site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Surface site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&lt;surface&gt;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 fraction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 fraction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237401"/>
                  </a:ext>
                </a:extLst>
              </a:tr>
              <a:tr h="335917">
                <a:tc>
                  <a:txBody>
                    <a:bodyPr/>
                    <a:lstStyle/>
                    <a:p>
                      <a:r>
                        <a:rPr lang="en-US" dirty="0"/>
                        <a:t>@surface_species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Adsorbed species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&lt;site&gt;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905338"/>
                  </a:ext>
                </a:extLst>
              </a:tr>
              <a:tr h="587854">
                <a:tc>
                  <a:txBody>
                    <a:bodyPr/>
                    <a:lstStyle/>
                    <a:p>
                      <a:r>
                        <a:rPr lang="en-US" dirty="0"/>
                        <a:t>@e_layer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Electrostatic plane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&lt;surface&gt;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Boltzmann factor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514561"/>
                  </a:ext>
                </a:extLst>
              </a:tr>
              <a:tr h="335917">
                <a:tc>
                  <a:txBody>
                    <a:bodyPr/>
                    <a:lstStyle/>
                    <a:p>
                      <a:r>
                        <a:rPr lang="en-US" dirty="0"/>
                        <a:t>@entity(e-, diss, 0)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electron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-pe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867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601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93" y="34117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Primary Entities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322093" y="1304994"/>
            <a:ext cx="107541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Primary entities </a:t>
            </a:r>
            <a:r>
              <a:rPr lang="en-US" dirty="0"/>
              <a:t>are similar to </a:t>
            </a:r>
            <a:r>
              <a:rPr lang="en-US" b="1" dirty="0"/>
              <a:t>master species </a:t>
            </a:r>
            <a:r>
              <a:rPr lang="en-US" dirty="0"/>
              <a:t>(PHREEQC)  or </a:t>
            </a:r>
            <a:r>
              <a:rPr lang="en-US" b="1" dirty="0"/>
              <a:t>components</a:t>
            </a:r>
            <a:r>
              <a:rPr lang="en-US" dirty="0"/>
              <a:t> (ECOSAT)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entities can be </a:t>
            </a:r>
            <a:r>
              <a:rPr lang="en-US" b="1" dirty="0"/>
              <a:t>elements</a:t>
            </a:r>
            <a:r>
              <a:rPr lang="en-US" dirty="0"/>
              <a:t> e.g. Al (PHREEQC) but also </a:t>
            </a:r>
            <a:r>
              <a:rPr lang="en-US" b="1" dirty="0"/>
              <a:t>aqueous ions </a:t>
            </a:r>
            <a:r>
              <a:rPr lang="en-US" dirty="0"/>
              <a:t>e.g. Al+3 (ECOSAT)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PHREEQC/ECOSAT </a:t>
            </a:r>
            <a:r>
              <a:rPr lang="en-US" dirty="0"/>
              <a:t>primary entities are </a:t>
            </a:r>
            <a:r>
              <a:rPr lang="en-US" b="1" dirty="0"/>
              <a:t>defined in thermodynamic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ORCHESTRA </a:t>
            </a:r>
            <a:r>
              <a:rPr lang="en-US" b="1" dirty="0"/>
              <a:t>any</a:t>
            </a:r>
            <a:r>
              <a:rPr lang="en-US" dirty="0"/>
              <a:t> independent </a:t>
            </a:r>
            <a:r>
              <a:rPr lang="en-US" b="1" dirty="0"/>
              <a:t>entity</a:t>
            </a:r>
            <a:r>
              <a:rPr lang="en-US" dirty="0"/>
              <a:t> can be made </a:t>
            </a:r>
            <a:r>
              <a:rPr lang="en-US" b="1" dirty="0"/>
              <a:t>primary</a:t>
            </a:r>
            <a:r>
              <a:rPr lang="en-US" dirty="0"/>
              <a:t> (The GUI will check independency)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47507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93" y="34117"/>
            <a:ext cx="10457726" cy="816015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model building blocks: Primary Entities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322093" y="1191572"/>
            <a:ext cx="1075412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entities have a .</a:t>
            </a:r>
            <a:r>
              <a:rPr lang="en-US" dirty="0" err="1"/>
              <a:t>logact</a:t>
            </a:r>
            <a:r>
              <a:rPr lang="en-US" dirty="0"/>
              <a:t> and .con variable, but they </a:t>
            </a:r>
            <a:r>
              <a:rPr lang="en-US" b="1" dirty="0"/>
              <a:t>additionally</a:t>
            </a:r>
            <a:r>
              <a:rPr lang="en-US" dirty="0"/>
              <a:t> have a </a:t>
            </a:r>
            <a:r>
              <a:rPr lang="en-US" b="1" dirty="0"/>
              <a:t>mass balance variable</a:t>
            </a:r>
            <a:r>
              <a:rPr lang="en-US" dirty="0"/>
              <a:t> for </a:t>
            </a:r>
            <a:r>
              <a:rPr lang="en-US" b="1" dirty="0"/>
              <a:t>each</a:t>
            </a:r>
            <a:r>
              <a:rPr lang="en-US" dirty="0"/>
              <a:t> system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 when Al is selected as primary entity: </a:t>
            </a:r>
          </a:p>
          <a:p>
            <a:r>
              <a:rPr lang="en-US" dirty="0"/>
              <a:t>	</a:t>
            </a:r>
            <a:r>
              <a:rPr lang="en-US" dirty="0" err="1"/>
              <a:t>Al.diss</a:t>
            </a:r>
            <a:r>
              <a:rPr lang="en-US" dirty="0"/>
              <a:t>  contains the </a:t>
            </a:r>
            <a:r>
              <a:rPr lang="en-US" b="1" dirty="0"/>
              <a:t>sum</a:t>
            </a:r>
            <a:r>
              <a:rPr lang="en-US" dirty="0"/>
              <a:t> of al </a:t>
            </a:r>
            <a:r>
              <a:rPr lang="en-US" dirty="0" err="1"/>
              <a:t>Al</a:t>
            </a:r>
            <a:r>
              <a:rPr lang="en-US" dirty="0"/>
              <a:t> forms in the </a:t>
            </a:r>
            <a:r>
              <a:rPr lang="en-US" b="1" dirty="0"/>
              <a:t>diss</a:t>
            </a:r>
            <a:r>
              <a:rPr lang="en-US" dirty="0"/>
              <a:t> phase (e.g. sum of Al+3, Al[OH]2+   Al[OH]+ etc.)</a:t>
            </a:r>
          </a:p>
          <a:p>
            <a:r>
              <a:rPr lang="en-US" dirty="0"/>
              <a:t>	</a:t>
            </a:r>
            <a:r>
              <a:rPr lang="en-US" dirty="0" err="1"/>
              <a:t>Al.tot</a:t>
            </a:r>
            <a:r>
              <a:rPr lang="en-US" dirty="0"/>
              <a:t> contains the </a:t>
            </a:r>
            <a:r>
              <a:rPr lang="en-US" b="1" dirty="0"/>
              <a:t>sum</a:t>
            </a:r>
            <a:r>
              <a:rPr lang="en-US" dirty="0"/>
              <a:t> of al </a:t>
            </a:r>
            <a:r>
              <a:rPr lang="en-US" dirty="0" err="1"/>
              <a:t>Al</a:t>
            </a:r>
            <a:r>
              <a:rPr lang="en-US" dirty="0"/>
              <a:t> forms in the </a:t>
            </a:r>
            <a:r>
              <a:rPr lang="en-US" b="1" dirty="0"/>
              <a:t>tot</a:t>
            </a:r>
            <a:r>
              <a:rPr lang="en-US" dirty="0"/>
              <a:t>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 when Al+3 is selected as primary entity: </a:t>
            </a:r>
          </a:p>
          <a:p>
            <a:r>
              <a:rPr lang="en-US" dirty="0"/>
              <a:t>	Al+3.diss  contains the </a:t>
            </a:r>
            <a:r>
              <a:rPr lang="en-US" b="1" dirty="0"/>
              <a:t>sum</a:t>
            </a:r>
            <a:r>
              <a:rPr lang="en-US" dirty="0"/>
              <a:t> of al Al+3 forms in the </a:t>
            </a:r>
            <a:r>
              <a:rPr lang="en-US" b="1" dirty="0"/>
              <a:t>diss</a:t>
            </a:r>
            <a:r>
              <a:rPr lang="en-US" dirty="0"/>
              <a:t> phase (e.g. sum of Al+3, Al[OH]2+   Al[OH]+ etc.)</a:t>
            </a:r>
          </a:p>
          <a:p>
            <a:r>
              <a:rPr lang="en-US" dirty="0"/>
              <a:t>	Al+3.tot contains the </a:t>
            </a:r>
            <a:r>
              <a:rPr lang="en-US" b="1" dirty="0"/>
              <a:t>sum</a:t>
            </a:r>
            <a:r>
              <a:rPr lang="en-US" dirty="0"/>
              <a:t> of al Al+3 forms in the </a:t>
            </a:r>
            <a:r>
              <a:rPr lang="en-US" b="1" dirty="0"/>
              <a:t>tot</a:t>
            </a:r>
            <a:r>
              <a:rPr lang="en-US" dirty="0"/>
              <a:t> phase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calculate the system for each primary entity we need as input a </a:t>
            </a:r>
            <a:r>
              <a:rPr lang="en-US" b="1" dirty="0"/>
              <a:t>given .</a:t>
            </a:r>
            <a:r>
              <a:rPr lang="en-US" b="1" dirty="0" err="1"/>
              <a:t>logact</a:t>
            </a:r>
            <a:r>
              <a:rPr lang="en-US" dirty="0"/>
              <a:t>, or </a:t>
            </a:r>
            <a:r>
              <a:rPr lang="en-US" b="1" dirty="0"/>
              <a:t>given cumulative mass balance</a:t>
            </a:r>
            <a:r>
              <a:rPr lang="en-US" dirty="0"/>
              <a:t> in a certain system phase.</a:t>
            </a:r>
          </a:p>
          <a:p>
            <a:endParaRPr lang="en-US" dirty="0"/>
          </a:p>
          <a:p>
            <a:r>
              <a:rPr lang="en-US" dirty="0"/>
              <a:t>When a primary entity is selected, the GUI shows all possible dependent entities that can be formed and selected from the set of primary entities.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35533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931" y="42974"/>
            <a:ext cx="8209730" cy="798469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adsorption models, how to use them 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927689" y="978324"/>
            <a:ext cx="7403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Include the </a:t>
            </a:r>
            <a:r>
              <a:rPr lang="en-US"/>
              <a:t>file “adsorption</a:t>
            </a:r>
            <a:r>
              <a:rPr lang="en-US" dirty="0"/>
              <a:t>_2022</a:t>
            </a:r>
            <a:r>
              <a:rPr lang="en-US"/>
              <a:t>.txt” </a:t>
            </a:r>
            <a:r>
              <a:rPr lang="en-US" dirty="0"/>
              <a:t>as database in the chemistry file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CAEC5D-59F0-0C27-AD62-4011A7F18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77" y="1532209"/>
            <a:ext cx="6851542" cy="36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183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9D6C-E1C3-0381-98BD-BDCA9121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931" y="42974"/>
            <a:ext cx="8209730" cy="798469"/>
          </a:xfrm>
        </p:spPr>
        <p:txBody>
          <a:bodyPr>
            <a:normAutofit/>
          </a:bodyPr>
          <a:lstStyle/>
          <a:p>
            <a:r>
              <a:rPr lang="en-US" sz="3200" b="1" dirty="0"/>
              <a:t>ORCHESTRA adsorption models, how to use them </a:t>
            </a:r>
            <a:endParaRPr lang="en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2641-CC41-1939-0451-EE5ED2DB4360}"/>
              </a:ext>
            </a:extLst>
          </p:cNvPr>
          <p:cNvSpPr txBox="1"/>
          <p:nvPr/>
        </p:nvSpPr>
        <p:spPr>
          <a:xfrm>
            <a:off x="927689" y="978324"/>
            <a:ext cx="7403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Select and connect to appropriate particle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9D1C12-6257-AD67-C4C9-7E80ECA57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93" y="1484537"/>
            <a:ext cx="7180217" cy="377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8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el page">
  <a:themeElements>
    <a:clrScheme name="Aangepast 1">
      <a:dk1>
        <a:sysClr val="windowText" lastClr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angepast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8247</TotalTime>
  <Words>3344</Words>
  <Application>Microsoft Office PowerPoint</Application>
  <PresentationFormat>Widescreen</PresentationFormat>
  <Paragraphs>628</Paragraphs>
  <Slides>40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72 Monospace</vt:lpstr>
      <vt:lpstr>Arial</vt:lpstr>
      <vt:lpstr>Calibri</vt:lpstr>
      <vt:lpstr>Calibri Light</vt:lpstr>
      <vt:lpstr>Open Sans</vt:lpstr>
      <vt:lpstr>Open Sans Semibold</vt:lpstr>
      <vt:lpstr>Office Theme</vt:lpstr>
      <vt:lpstr>Titel page</vt:lpstr>
      <vt:lpstr>Introduction chemical modelling with  ORCHESTRA, Part III 27 November 2024</vt:lpstr>
      <vt:lpstr>Introduction chemical modelling with ORCHESTRA, Part III   Hans Meeussen NRG/TU Delft, 27/11/2024</vt:lpstr>
      <vt:lpstr>Introduce myself</vt:lpstr>
      <vt:lpstr>Introduction chemical modelling with ORCHESTRA, Part III   Hans Meeussen NRG/TU Delft, 27/11/2024</vt:lpstr>
      <vt:lpstr>Introduction chemical modelling with ORCHESTRA, Part III   Hans Meeussen NRG/TU Delft, 27/11/2024</vt:lpstr>
      <vt:lpstr>ORCHESTRA, what is similar to other codes…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ORCHESTRA structure advantages</vt:lpstr>
      <vt:lpstr>PHREEQC example 1</vt:lpstr>
      <vt:lpstr>PHREEQC example 2</vt:lpstr>
      <vt:lpstr>ORCHESTRA Phases </vt:lpstr>
      <vt:lpstr>ORCHESTRA Phases </vt:lpstr>
      <vt:lpstr>ORCHESTRA Phases </vt:lpstr>
      <vt:lpstr>ORCHESTRA Phases </vt:lpstr>
      <vt:lpstr>ORCHESTRA Phases </vt:lpstr>
      <vt:lpstr>Recap of today:</vt:lpstr>
      <vt:lpstr>Thank you for your participation!</vt:lpstr>
      <vt:lpstr>PowerPoint Presentation</vt:lpstr>
      <vt:lpstr>ORCHESTRA: Defining a chemical system with the GUI -creates/edits a text file (chemistry.inp) that contains the complete definition of the chemical system</vt:lpstr>
      <vt:lpstr>ORCHESTRA: Defining a chemical system with the GUI - creates/edits a text file (chemistry.inp) that contains the complete definition of the chemical system</vt:lpstr>
      <vt:lpstr>ORCHESTRA: Defining a chemical system with the GUI  - GUI uses thermodynamic database(s) for selection of substances/reactions - GUI creates/edits a text file (chemistry.inp) that contains the complete definition of a chemical system - chemistry.inp text file can also be edited in text mode: switch between GUI view/text View  - chemistry.inp text file can be processed by the solver (Java or C++) - thermodynamic database not needed during calculations  - input text file is simple computer program in ORCHESTRA language  - input file contains variables, expression, equations  - temperature dependent logk expressions  - kinetic rate expressions</vt:lpstr>
      <vt:lpstr>ORCHESTRA: Selection of reactions from database</vt:lpstr>
      <vt:lpstr>Stability/predominance diagrams</vt:lpstr>
      <vt:lpstr>Defining a chemical system</vt:lpstr>
      <vt:lpstr>Format input files</vt:lpstr>
      <vt:lpstr>ORCHESTRA: Input text file</vt:lpstr>
      <vt:lpstr>Format output files</vt:lpstr>
      <vt:lpstr>ORCHESTRA: output</vt:lpstr>
      <vt:lpstr>Are there any questions about:  - defining a chemical system or  - defining input output format files?</vt:lpstr>
      <vt:lpstr>Part II ORCHESTRA chemical model structure</vt:lpstr>
      <vt:lpstr>Part II ORCHESTRA chemical model structure</vt:lpstr>
      <vt:lpstr>ORCHESTRA model building blocks: Entities</vt:lpstr>
      <vt:lpstr>ORCHESTRA Primary Entities</vt:lpstr>
      <vt:lpstr>ORCHESTRA model building blocks: Primary Entities</vt:lpstr>
      <vt:lpstr>ORCHESTRA adsorption models, how to use them </vt:lpstr>
      <vt:lpstr>ORCHESTRA adsorption models, how to use them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Hans Meeussen</dc:creator>
  <cp:lastModifiedBy>Meeussen, J.C.L. (Hans)</cp:lastModifiedBy>
  <cp:revision>70</cp:revision>
  <dcterms:created xsi:type="dcterms:W3CDTF">2024-04-02T13:17:27Z</dcterms:created>
  <dcterms:modified xsi:type="dcterms:W3CDTF">2024-11-27T14:24:31Z</dcterms:modified>
</cp:coreProperties>
</file>